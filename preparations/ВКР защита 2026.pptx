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669000"/>
  <p:notesSz cx="6858000" cy="9144000"/>
  <p:embeddedFontLst>
    <p:embeddedFont>
      <p:font typeface="Golos Text"/>
      <p:regular r:id="rId31"/>
      <p:bold r:id="rId32"/>
    </p:embeddedFont>
    <p:embeddedFont>
      <p:font typeface="Golos Text Medium"/>
      <p:regular r:id="rId33"/>
      <p:bold r:id="rId34"/>
    </p:embeddedFont>
    <p:embeddedFont>
      <p:font typeface="Golos Text SemiBold"/>
      <p:regular r:id="rId35"/>
      <p:bold r:id="rId36"/>
    </p:embeddedFont>
    <p:embeddedFont>
      <p:font typeface="Comforta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22">
          <p15:clr>
            <a:srgbClr val="A4A3A4"/>
          </p15:clr>
        </p15:guide>
        <p15:guide id="2" pos="5868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WrnVrGkHcz681ZCZ5458AnVo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22" orient="horz"/>
        <p:guide pos="58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losTex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GolosTextMedium-regular.fntdata"/><Relationship Id="rId10" Type="http://schemas.openxmlformats.org/officeDocument/2006/relationships/slide" Target="slides/slide5.xml"/><Relationship Id="rId32" Type="http://schemas.openxmlformats.org/officeDocument/2006/relationships/font" Target="fonts/GolosText-bold.fntdata"/><Relationship Id="rId13" Type="http://schemas.openxmlformats.org/officeDocument/2006/relationships/slide" Target="slides/slide8.xml"/><Relationship Id="rId35" Type="http://schemas.openxmlformats.org/officeDocument/2006/relationships/font" Target="fonts/GolosText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GolosTextMedium-bold.fntdata"/><Relationship Id="rId15" Type="http://schemas.openxmlformats.org/officeDocument/2006/relationships/slide" Target="slides/slide10.xml"/><Relationship Id="rId37" Type="http://schemas.openxmlformats.org/officeDocument/2006/relationships/font" Target="fonts/Comfortaa-regular.fntdata"/><Relationship Id="rId14" Type="http://schemas.openxmlformats.org/officeDocument/2006/relationships/slide" Target="slides/slide9.xml"/><Relationship Id="rId36" Type="http://schemas.openxmlformats.org/officeDocument/2006/relationships/font" Target="fonts/GolosTextSemiBold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Comforta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3b9a9254b_0_432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e3b9a9254b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e3b9a9254b_0_4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3b9a9254b_0_574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e3b9a9254b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e3b9a9254b_0_5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0a3c5c3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d0a3c5c347_0_5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3b9a9254b_0_748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e3b9a9254b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e3b9a9254b_0_7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3b9a9254b_0_386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e3b9a9254b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3e3b9a9254b_0_3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3b9a9254b_0_188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e3b9a9254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e3b9a9254b_0_1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3b9a9254b_0_196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e3b9a9254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посттренировочный - применяется к готовой модели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с дообучением - встраивает квантизацию в цикл обучения</a:t>
            </a:r>
            <a:endParaRPr/>
          </a:p>
        </p:txBody>
      </p:sp>
      <p:sp>
        <p:nvSpPr>
          <p:cNvPr id="327" name="Google Shape;327;g3e3b9a9254b_0_1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3b9a9254b_0_211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e3b9a9254b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Сократить “финальная модель, альтернатива, колено” до одного краткого абзаца</a:t>
            </a:r>
            <a:endParaRPr/>
          </a:p>
        </p:txBody>
      </p:sp>
      <p:sp>
        <p:nvSpPr>
          <p:cNvPr id="346" name="Google Shape;346;g3e3b9a9254b_0_2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3b9a9254b_0_226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e3b9a9254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e3b9a9254b_0_2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3b9a9254b_0_232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e3b9a9254b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3e3b9a9254b_0_2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3b9a9254b_0_240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e3b9a9254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g3e3b9a9254b_0_2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3b9a9254b_0_250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e3b9a9254b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e3b9a9254b_0_2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3b9a9254b_0_257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e3b9a9254b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P_k — мгновенные мощности ступеней (в активном режиме):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P_1 = мощность ступени VAD в активе = ток компаратора × U ≈ 100 мкА × 3.7 В ≈ </a:t>
            </a: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0.4 мВт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(паспортное LM393)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P_2 = средняя мощность фаз RECORD+MFCC = (569.74+137.19) мДж / (2519+410) мс ≈ </a:t>
            </a: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241 мВт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P_3 = средняя мощность инференса = 155.65 мДж / 460 мс ≈ </a:t>
            </a: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338 мВт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α_k — доли времени активности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(при 1 пробуждении в час):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α_1 = 1 (VAD всегда)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α_2 = (2519+410) мс / 3600000 мс = 0.000814 ≈ 8×10⁻⁴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α_3 = 460 мс / 3600000 мс = 0.000128 ≈ 1.3×10⁻⁴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Средняя мощность каскада: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α_1·P_1 = 1 × 0.4 = </a:t>
            </a: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0.4 мВт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α_2·P_2 = 8×10⁻⁴ × 241 = </a:t>
            </a: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0.20 мВт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α_3·P_3 = 1.3×10⁻⁴ × 338 = </a:t>
            </a: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0.04 мВт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Итого P̄ ≈ 0.64 мВт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(целевая система)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Сравнение с непрерывным: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P̄_непрерывный = P_3 = 338 мВт. </a:t>
            </a: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Соотношение: 338 / 0.64 ≈ ×530.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Это и есть «на два порядка» из расчёта по формуле.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100">
                <a:latin typeface="Arial"/>
                <a:ea typeface="Arial"/>
                <a:cs typeface="Arial"/>
                <a:sym typeface="Arial"/>
              </a:rPr>
              <a:t>Непрерывный мониторинг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: 0.338 Вт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Энергия: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2500 ма*ч = 33 кДж =&gt; t = 33000/0.338 = 97633c = 27.12ч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При этом у реальных батарей КПД из-за внутреннего сопротивления не 100%, так что будет ещё меньше, расчёты представил в идеальной среде для удобства.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e3b9a9254b_0_2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3b9a9254b_0_154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e3b9a9254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e3b9a9254b_0_1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12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3b9a9254b_0_319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g3e3b9a9254b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e3b9a9254b_0_3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3b9a9254b_0_328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e3b9a9254b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g3e3b9a9254b_0_3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e3b9a9254b_0_282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e3b9a9254b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g3e3b9a9254b_0_2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e3b9a9254b_0_298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e3b9a9254b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e3b9a9254b_0_2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3b9a9254b_0_311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e3b9a9254b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4" name="Google Shape;664;g3e3b9a9254b_0_3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829d56da7_0_275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d829d56da7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2" name="Google Shape;672;g3d829d56da7_0_2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e3b9a9254b_0_276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g3e3b9a9254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g3e3b9a9254b_0_2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d829d56da7_0_190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d829d56da7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4" name="Google Shape;694;g3d829d56da7_0_1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d829d56da7_0_200:notes"/>
          <p:cNvSpPr/>
          <p:nvPr>
            <p:ph idx="2" type="sldImg"/>
          </p:nvPr>
        </p:nvSpPr>
        <p:spPr>
          <a:xfrm>
            <a:off x="317500" y="685800"/>
            <a:ext cx="6222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d829d56da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g3d829d56da7_0_2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/>
        </p:nvSpPr>
        <p:spPr>
          <a:xfrm>
            <a:off x="10409266" y="980548"/>
            <a:ext cx="377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 txBox="1"/>
          <p:nvPr/>
        </p:nvSpPr>
        <p:spPr>
          <a:xfrm>
            <a:off x="12067885" y="854478"/>
            <a:ext cx="377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10409266" y="980548"/>
            <a:ext cx="377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12067885" y="854478"/>
            <a:ext cx="377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933448" y="2080324"/>
            <a:ext cx="17128200" cy="7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None/>
              <a:defRPr sz="4056"/>
            </a:lvl1pPr>
            <a:lvl2pPr indent="-228600" lvl="1" marL="914400" algn="l">
              <a:lnSpc>
                <a:spcPct val="100000"/>
              </a:lnSpc>
              <a:spcBef>
                <a:spcPts val="973"/>
              </a:spcBef>
              <a:spcAft>
                <a:spcPts val="0"/>
              </a:spcAft>
              <a:buClr>
                <a:schemeClr val="dk1"/>
              </a:buClr>
              <a:buSzPts val="4867"/>
              <a:buFont typeface="Arial"/>
              <a:buNone/>
              <a:defRPr sz="4867"/>
            </a:lvl2pPr>
            <a:lvl3pPr indent="-228600" lvl="2" marL="13716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None/>
              <a:defRPr sz="4056"/>
            </a:lvl3pPr>
            <a:lvl4pPr indent="-228600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2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/>
          <p:nvPr/>
        </p:nvSpPr>
        <p:spPr>
          <a:xfrm>
            <a:off x="160067" y="1667450"/>
            <a:ext cx="18296100" cy="8527800"/>
          </a:xfrm>
          <a:prstGeom prst="rect">
            <a:avLst/>
          </a:prstGeom>
          <a:solidFill>
            <a:schemeClr val="lt1"/>
          </a:solidFill>
          <a:ln cap="flat" cmpd="sng" w="19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t/>
            </a:r>
            <a:endParaRPr b="0" i="0" sz="2839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1211270" y="4538250"/>
            <a:ext cx="5242500" cy="5287200"/>
          </a:xfrm>
          <a:prstGeom prst="rect">
            <a:avLst/>
          </a:prstGeom>
          <a:solidFill>
            <a:srgbClr val="9307FE"/>
          </a:solidFill>
          <a:ln cap="flat" cmpd="sng" w="19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t/>
            </a:r>
            <a:endParaRPr b="0" i="0" sz="2839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" name="Google Shape;24;p21"/>
          <p:cNvSpPr/>
          <p:nvPr/>
        </p:nvSpPr>
        <p:spPr>
          <a:xfrm>
            <a:off x="6988370" y="4538250"/>
            <a:ext cx="5242500" cy="5287200"/>
          </a:xfrm>
          <a:prstGeom prst="rect">
            <a:avLst/>
          </a:prstGeom>
          <a:solidFill>
            <a:srgbClr val="18C6F0"/>
          </a:solidFill>
          <a:ln cap="flat" cmpd="sng" w="19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t/>
            </a:r>
            <a:endParaRPr b="0" i="0" sz="2839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" name="Google Shape;25;p21"/>
          <p:cNvSpPr/>
          <p:nvPr/>
        </p:nvSpPr>
        <p:spPr>
          <a:xfrm>
            <a:off x="12765572" y="4538250"/>
            <a:ext cx="5242500" cy="5287200"/>
          </a:xfrm>
          <a:prstGeom prst="rect">
            <a:avLst/>
          </a:prstGeom>
          <a:solidFill>
            <a:srgbClr val="1EE66F"/>
          </a:solidFill>
          <a:ln cap="flat" cmpd="sng" w="19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t/>
            </a:r>
            <a:endParaRPr b="0" i="0" sz="2839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" name="Google Shape;26;p21"/>
          <p:cNvSpPr txBox="1"/>
          <p:nvPr>
            <p:ph idx="1" type="body"/>
          </p:nvPr>
        </p:nvSpPr>
        <p:spPr>
          <a:xfrm>
            <a:off x="7009552" y="4538252"/>
            <a:ext cx="5220900" cy="52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lt1"/>
              </a:buClr>
              <a:buSzPts val="2839"/>
              <a:buNone/>
              <a:defRPr sz="2839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27" name="Google Shape;27;p21"/>
          <p:cNvSpPr txBox="1"/>
          <p:nvPr>
            <p:ph idx="2" type="body"/>
          </p:nvPr>
        </p:nvSpPr>
        <p:spPr>
          <a:xfrm>
            <a:off x="1211270" y="4537550"/>
            <a:ext cx="5060400" cy="52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lt1"/>
              </a:buClr>
              <a:buSzPts val="2839"/>
              <a:buNone/>
              <a:defRPr sz="2839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28" name="Google Shape;28;p21"/>
          <p:cNvSpPr txBox="1"/>
          <p:nvPr>
            <p:ph idx="3" type="body"/>
          </p:nvPr>
        </p:nvSpPr>
        <p:spPr>
          <a:xfrm>
            <a:off x="12765470" y="4569000"/>
            <a:ext cx="5220900" cy="5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lt1"/>
              </a:buClr>
              <a:buSzPts val="2839"/>
              <a:buNone/>
              <a:defRPr sz="2839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29" name="Google Shape;29;p21"/>
          <p:cNvSpPr txBox="1"/>
          <p:nvPr>
            <p:ph type="title"/>
          </p:nvPr>
        </p:nvSpPr>
        <p:spPr>
          <a:xfrm>
            <a:off x="933450" y="612870"/>
            <a:ext cx="12846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30" name="Google Shape;30;p21"/>
          <p:cNvSpPr/>
          <p:nvPr/>
        </p:nvSpPr>
        <p:spPr>
          <a:xfrm>
            <a:off x="1211270" y="2019250"/>
            <a:ext cx="16796700" cy="2167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193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t/>
            </a:r>
            <a:endParaRPr b="0" i="0" sz="2839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1" name="Google Shape;31;p21"/>
          <p:cNvSpPr txBox="1"/>
          <p:nvPr/>
        </p:nvSpPr>
        <p:spPr>
          <a:xfrm>
            <a:off x="2502522" y="2541450"/>
            <a:ext cx="12843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6"/>
              <a:buFont typeface="Arial"/>
              <a:buNone/>
            </a:pPr>
            <a:r>
              <a:t/>
            </a:r>
            <a:endParaRPr b="0" i="0" sz="4056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" name="Google Shape;32;p21"/>
          <p:cNvSpPr txBox="1"/>
          <p:nvPr>
            <p:ph idx="4" type="body"/>
          </p:nvPr>
        </p:nvSpPr>
        <p:spPr>
          <a:xfrm>
            <a:off x="1211270" y="2019250"/>
            <a:ext cx="16796700" cy="21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SzPts val="4056"/>
              <a:buNone/>
              <a:defRPr sz="4056"/>
            </a:lvl1pPr>
            <a:lvl2pPr indent="-486156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SzPts val="4056"/>
              <a:buChar char="•"/>
              <a:defRPr sz="4056"/>
            </a:lvl2pPr>
            <a:lvl3pPr indent="-434594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3244"/>
              <a:buChar char="•"/>
              <a:defRPr sz="3244"/>
            </a:lvl3pPr>
            <a:lvl4pPr indent="-434594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3244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SzPts val="3244"/>
              <a:buNone/>
              <a:defRPr sz="3244"/>
            </a:lvl5pPr>
            <a:lvl6pPr indent="-486156" lvl="5" marL="27432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SzPts val="4056"/>
              <a:buChar char="•"/>
              <a:defRPr sz="4056"/>
            </a:lvl6pPr>
            <a:lvl7pPr indent="-486156" lvl="6" marL="3200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SzPts val="4056"/>
              <a:buChar char="•"/>
              <a:defRPr sz="4056"/>
            </a:lvl7pPr>
            <a:lvl8pPr indent="-486156" lvl="7" marL="36576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SzPts val="4056"/>
              <a:buChar char="•"/>
              <a:defRPr sz="4056"/>
            </a:lvl8pPr>
            <a:lvl9pPr indent="-486156" lvl="8" marL="41148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SzPts val="4056"/>
              <a:buChar char="•"/>
              <a:defRPr sz="4056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933450" y="2423886"/>
            <a:ext cx="15246300" cy="6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1pPr>
            <a:lvl2pPr indent="-537655" lvl="1" marL="914400" algn="l">
              <a:lnSpc>
                <a:spcPct val="100000"/>
              </a:lnSpc>
              <a:spcBef>
                <a:spcPts val="973"/>
              </a:spcBef>
              <a:spcAft>
                <a:spcPts val="0"/>
              </a:spcAft>
              <a:buClr>
                <a:schemeClr val="dk1"/>
              </a:buClr>
              <a:buSzPts val="4867"/>
              <a:buChar char="•"/>
              <a:defRPr sz="4867"/>
            </a:lvl2pPr>
            <a:lvl3pPr indent="-486156" lvl="2" marL="13716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Char char="•"/>
              <a:defRPr sz="4056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/>
          <p:nvPr>
            <p:ph idx="2" type="pic"/>
          </p:nvPr>
        </p:nvSpPr>
        <p:spPr>
          <a:xfrm>
            <a:off x="933450" y="1873704"/>
            <a:ext cx="9408900" cy="7684200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38" name="Google Shape;38;p19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11245849" y="2307772"/>
            <a:ext cx="5171100" cy="6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1274231" y="2467430"/>
            <a:ext cx="14638800" cy="6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1pPr>
            <a:lvl2pPr indent="-228600" lvl="1" marL="9144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42" name="Google Shape;42;p28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1274231" y="2467430"/>
            <a:ext cx="14638800" cy="6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1pPr>
            <a:lvl2pPr indent="-228600" lvl="1" marL="9144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45" name="Google Shape;45;p18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1037165" y="35845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1037165" y="23649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49" name="Google Shape;49;p20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50" name="Google Shape;50;p20"/>
          <p:cNvSpPr txBox="1"/>
          <p:nvPr>
            <p:ph idx="3" type="body"/>
          </p:nvPr>
        </p:nvSpPr>
        <p:spPr>
          <a:xfrm>
            <a:off x="10208682" y="60229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51" name="Google Shape;51;p20"/>
          <p:cNvSpPr txBox="1"/>
          <p:nvPr>
            <p:ph idx="4" type="body"/>
          </p:nvPr>
        </p:nvSpPr>
        <p:spPr>
          <a:xfrm>
            <a:off x="10208682" y="48033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/>
          <p:nvPr>
            <p:ph idx="2" type="pic"/>
          </p:nvPr>
        </p:nvSpPr>
        <p:spPr>
          <a:xfrm>
            <a:off x="933450" y="1873704"/>
            <a:ext cx="9408900" cy="7684200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54" name="Google Shape;54;p23"/>
          <p:cNvSpPr txBox="1"/>
          <p:nvPr>
            <p:ph type="title"/>
          </p:nvPr>
        </p:nvSpPr>
        <p:spPr>
          <a:xfrm>
            <a:off x="933450" y="612870"/>
            <a:ext cx="12846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55" name="Google Shape;55;p23"/>
          <p:cNvSpPr txBox="1"/>
          <p:nvPr>
            <p:ph idx="1" type="body"/>
          </p:nvPr>
        </p:nvSpPr>
        <p:spPr>
          <a:xfrm>
            <a:off x="11245849" y="2307772"/>
            <a:ext cx="5171100" cy="6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/>
          <p:nvPr>
            <p:ph type="title"/>
          </p:nvPr>
        </p:nvSpPr>
        <p:spPr>
          <a:xfrm>
            <a:off x="933450" y="612870"/>
            <a:ext cx="12846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58" name="Google Shape;58;p24"/>
          <p:cNvSpPr txBox="1"/>
          <p:nvPr>
            <p:ph idx="1" type="body"/>
          </p:nvPr>
        </p:nvSpPr>
        <p:spPr>
          <a:xfrm>
            <a:off x="6334124" y="1886416"/>
            <a:ext cx="11283000" cy="7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59" name="Google Shape;59;p24"/>
          <p:cNvSpPr/>
          <p:nvPr>
            <p:ph idx="2" type="pic"/>
          </p:nvPr>
        </p:nvSpPr>
        <p:spPr>
          <a:xfrm>
            <a:off x="933450" y="1886416"/>
            <a:ext cx="5171100" cy="37659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0" name="Google Shape;60;p24"/>
          <p:cNvSpPr/>
          <p:nvPr>
            <p:ph idx="3" type="pic"/>
          </p:nvPr>
        </p:nvSpPr>
        <p:spPr>
          <a:xfrm>
            <a:off x="933450" y="5871440"/>
            <a:ext cx="5171100" cy="37659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933452" y="5867804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63" name="Google Shape;63;p25"/>
          <p:cNvSpPr txBox="1"/>
          <p:nvPr>
            <p:ph idx="2" type="body"/>
          </p:nvPr>
        </p:nvSpPr>
        <p:spPr>
          <a:xfrm>
            <a:off x="6552635" y="5867804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64" name="Google Shape;64;p25"/>
          <p:cNvSpPr txBox="1"/>
          <p:nvPr>
            <p:ph idx="3" type="body"/>
          </p:nvPr>
        </p:nvSpPr>
        <p:spPr>
          <a:xfrm>
            <a:off x="12188350" y="5867804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65" name="Google Shape;65;p25"/>
          <p:cNvSpPr txBox="1"/>
          <p:nvPr>
            <p:ph idx="4" type="body"/>
          </p:nvPr>
        </p:nvSpPr>
        <p:spPr>
          <a:xfrm>
            <a:off x="933450" y="6575656"/>
            <a:ext cx="5285700" cy="2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434594" lvl="1" marL="9144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4"/>
            </a:lvl2pPr>
            <a:lvl3pPr indent="-434594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4"/>
            </a:lvl3pPr>
            <a:lvl4pPr indent="-434594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  <p:sp>
        <p:nvSpPr>
          <p:cNvPr id="66" name="Google Shape;66;p25"/>
          <p:cNvSpPr txBox="1"/>
          <p:nvPr>
            <p:ph idx="5" type="body"/>
          </p:nvPr>
        </p:nvSpPr>
        <p:spPr>
          <a:xfrm>
            <a:off x="6548137" y="6599156"/>
            <a:ext cx="5290800" cy="2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383096" lvl="1" marL="9144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Char char="•"/>
              <a:defRPr sz="2433"/>
            </a:lvl2pPr>
            <a:lvl3pPr indent="-383096" lvl="2" marL="13716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Char char="•"/>
              <a:defRPr sz="2433"/>
            </a:lvl3pPr>
            <a:lvl4pPr indent="-383096" lvl="3" marL="18288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Char char="•"/>
              <a:defRPr sz="2433"/>
            </a:lvl4pPr>
            <a:lvl5pPr indent="-228600" lvl="4" marL="22860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  <p:sp>
        <p:nvSpPr>
          <p:cNvPr id="67" name="Google Shape;67;p25"/>
          <p:cNvSpPr txBox="1"/>
          <p:nvPr>
            <p:ph type="title"/>
          </p:nvPr>
        </p:nvSpPr>
        <p:spPr>
          <a:xfrm>
            <a:off x="933450" y="612870"/>
            <a:ext cx="12846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68" name="Google Shape;68;p25"/>
          <p:cNvSpPr txBox="1"/>
          <p:nvPr>
            <p:ph idx="6" type="body"/>
          </p:nvPr>
        </p:nvSpPr>
        <p:spPr>
          <a:xfrm>
            <a:off x="12183850" y="6599156"/>
            <a:ext cx="5290800" cy="2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383096" lvl="1" marL="9144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Char char="•"/>
              <a:defRPr sz="2433"/>
            </a:lvl2pPr>
            <a:lvl3pPr indent="-383096" lvl="2" marL="13716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Char char="•"/>
              <a:defRPr sz="2433"/>
            </a:lvl3pPr>
            <a:lvl4pPr indent="-383096" lvl="3" marL="18288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Char char="•"/>
              <a:defRPr sz="2433"/>
            </a:lvl4pPr>
            <a:lvl5pPr indent="-228600" lvl="4" marL="22860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  <p:sp>
        <p:nvSpPr>
          <p:cNvPr id="69" name="Google Shape;69;p25"/>
          <p:cNvSpPr/>
          <p:nvPr>
            <p:ph idx="7" type="pic"/>
          </p:nvPr>
        </p:nvSpPr>
        <p:spPr>
          <a:xfrm>
            <a:off x="957707" y="1888926"/>
            <a:ext cx="5261400" cy="37659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70" name="Google Shape;70;p25"/>
          <p:cNvSpPr/>
          <p:nvPr>
            <p:ph idx="8" type="pic"/>
          </p:nvPr>
        </p:nvSpPr>
        <p:spPr>
          <a:xfrm>
            <a:off x="6577568" y="1888924"/>
            <a:ext cx="5261400" cy="3765900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71" name="Google Shape;71;p25"/>
          <p:cNvSpPr/>
          <p:nvPr>
            <p:ph idx="9" type="pic"/>
          </p:nvPr>
        </p:nvSpPr>
        <p:spPr>
          <a:xfrm>
            <a:off x="12210575" y="1888926"/>
            <a:ext cx="5261400" cy="3765900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933450" y="612870"/>
            <a:ext cx="12846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>
            <a:off x="933452" y="1926794"/>
            <a:ext cx="51711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b="1" i="0" sz="3650"/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75" name="Google Shape;75;p26"/>
          <p:cNvSpPr/>
          <p:nvPr>
            <p:ph idx="2" type="pic"/>
          </p:nvPr>
        </p:nvSpPr>
        <p:spPr>
          <a:xfrm>
            <a:off x="6319307" y="1926794"/>
            <a:ext cx="5171100" cy="37659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76" name="Google Shape;76;p26"/>
          <p:cNvSpPr/>
          <p:nvPr>
            <p:ph idx="3" type="pic"/>
          </p:nvPr>
        </p:nvSpPr>
        <p:spPr>
          <a:xfrm>
            <a:off x="11705163" y="1933856"/>
            <a:ext cx="5171100" cy="3765900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77" name="Google Shape;77;p26"/>
          <p:cNvSpPr/>
          <p:nvPr>
            <p:ph idx="4" type="pic"/>
          </p:nvPr>
        </p:nvSpPr>
        <p:spPr>
          <a:xfrm>
            <a:off x="11705163" y="5908084"/>
            <a:ext cx="5171100" cy="3765900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78" name="Google Shape;78;p26"/>
          <p:cNvSpPr/>
          <p:nvPr>
            <p:ph idx="5" type="pic"/>
          </p:nvPr>
        </p:nvSpPr>
        <p:spPr>
          <a:xfrm>
            <a:off x="6319307" y="5920628"/>
            <a:ext cx="5171100" cy="3765900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79" name="Google Shape;79;p26"/>
          <p:cNvSpPr/>
          <p:nvPr>
            <p:ph idx="6" type="pic"/>
          </p:nvPr>
        </p:nvSpPr>
        <p:spPr>
          <a:xfrm>
            <a:off x="933450" y="5920628"/>
            <a:ext cx="5171100" cy="3765900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idx="1" type="body"/>
          </p:nvPr>
        </p:nvSpPr>
        <p:spPr>
          <a:xfrm>
            <a:off x="933452" y="4735290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82" name="Google Shape;82;p27"/>
          <p:cNvSpPr txBox="1"/>
          <p:nvPr>
            <p:ph idx="2" type="body"/>
          </p:nvPr>
        </p:nvSpPr>
        <p:spPr>
          <a:xfrm>
            <a:off x="6688130" y="4735290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83" name="Google Shape;83;p27"/>
          <p:cNvSpPr txBox="1"/>
          <p:nvPr>
            <p:ph idx="3" type="body"/>
          </p:nvPr>
        </p:nvSpPr>
        <p:spPr>
          <a:xfrm>
            <a:off x="12424983" y="4735290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84" name="Google Shape;84;p27"/>
          <p:cNvSpPr txBox="1"/>
          <p:nvPr>
            <p:ph type="title"/>
          </p:nvPr>
        </p:nvSpPr>
        <p:spPr>
          <a:xfrm>
            <a:off x="933450" y="612870"/>
            <a:ext cx="12846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85" name="Google Shape;85;p27"/>
          <p:cNvSpPr/>
          <p:nvPr>
            <p:ph idx="4" type="pic"/>
          </p:nvPr>
        </p:nvSpPr>
        <p:spPr>
          <a:xfrm>
            <a:off x="927019" y="1905214"/>
            <a:ext cx="5286300" cy="2608500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86" name="Google Shape;86;p27"/>
          <p:cNvSpPr/>
          <p:nvPr>
            <p:ph idx="5" type="pic"/>
          </p:nvPr>
        </p:nvSpPr>
        <p:spPr>
          <a:xfrm>
            <a:off x="6688128" y="1905214"/>
            <a:ext cx="5286300" cy="2608500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87" name="Google Shape;87;p27"/>
          <p:cNvSpPr/>
          <p:nvPr>
            <p:ph idx="6" type="pic"/>
          </p:nvPr>
        </p:nvSpPr>
        <p:spPr>
          <a:xfrm>
            <a:off x="12433319" y="1905214"/>
            <a:ext cx="5286300" cy="2608500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88" name="Google Shape;88;p27"/>
          <p:cNvSpPr txBox="1"/>
          <p:nvPr>
            <p:ph idx="7" type="body"/>
          </p:nvPr>
        </p:nvSpPr>
        <p:spPr>
          <a:xfrm>
            <a:off x="939885" y="8562792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89" name="Google Shape;89;p27"/>
          <p:cNvSpPr txBox="1"/>
          <p:nvPr>
            <p:ph idx="8" type="body"/>
          </p:nvPr>
        </p:nvSpPr>
        <p:spPr>
          <a:xfrm>
            <a:off x="6694564" y="8562792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90" name="Google Shape;90;p27"/>
          <p:cNvSpPr txBox="1"/>
          <p:nvPr>
            <p:ph idx="9" type="body"/>
          </p:nvPr>
        </p:nvSpPr>
        <p:spPr>
          <a:xfrm>
            <a:off x="12431416" y="8562792"/>
            <a:ext cx="5286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Font typeface="Arial"/>
              <a:buNone/>
              <a:defRPr b="1" i="0" sz="2433"/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91" name="Google Shape;91;p27"/>
          <p:cNvSpPr/>
          <p:nvPr>
            <p:ph idx="13" type="pic"/>
          </p:nvPr>
        </p:nvSpPr>
        <p:spPr>
          <a:xfrm>
            <a:off x="933452" y="5732716"/>
            <a:ext cx="5286300" cy="2608500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92" name="Google Shape;92;p27"/>
          <p:cNvSpPr/>
          <p:nvPr>
            <p:ph idx="14" type="pic"/>
          </p:nvPr>
        </p:nvSpPr>
        <p:spPr>
          <a:xfrm>
            <a:off x="6694562" y="5732716"/>
            <a:ext cx="5286300" cy="2608500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93" name="Google Shape;93;p27"/>
          <p:cNvSpPr/>
          <p:nvPr>
            <p:ph idx="15" type="pic"/>
          </p:nvPr>
        </p:nvSpPr>
        <p:spPr>
          <a:xfrm>
            <a:off x="12439753" y="5732716"/>
            <a:ext cx="5286300" cy="2608500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/>
          <p:nvPr>
            <p:ph idx="1" type="body"/>
          </p:nvPr>
        </p:nvSpPr>
        <p:spPr>
          <a:xfrm>
            <a:off x="1037165" y="35845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96" name="Google Shape;96;p29"/>
          <p:cNvSpPr txBox="1"/>
          <p:nvPr>
            <p:ph idx="2" type="body"/>
          </p:nvPr>
        </p:nvSpPr>
        <p:spPr>
          <a:xfrm>
            <a:off x="1037165" y="23649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97" name="Google Shape;97;p29"/>
          <p:cNvSpPr txBox="1"/>
          <p:nvPr>
            <p:ph idx="3" type="body"/>
          </p:nvPr>
        </p:nvSpPr>
        <p:spPr>
          <a:xfrm>
            <a:off x="10208682" y="60229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98" name="Google Shape;98;p29"/>
          <p:cNvSpPr txBox="1"/>
          <p:nvPr>
            <p:ph idx="4" type="body"/>
          </p:nvPr>
        </p:nvSpPr>
        <p:spPr>
          <a:xfrm>
            <a:off x="10208682" y="48033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99" name="Google Shape;99;p29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0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102" name="Google Shape;102;p30"/>
          <p:cNvSpPr txBox="1"/>
          <p:nvPr>
            <p:ph idx="1" type="body"/>
          </p:nvPr>
        </p:nvSpPr>
        <p:spPr>
          <a:xfrm>
            <a:off x="933448" y="2080324"/>
            <a:ext cx="17128200" cy="7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lt1"/>
              </a:buClr>
              <a:buSzPts val="3650"/>
              <a:buFont typeface="Arial"/>
              <a:buNone/>
              <a:defRPr b="0" sz="36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73"/>
              </a:spcBef>
              <a:spcAft>
                <a:spcPts val="0"/>
              </a:spcAft>
              <a:buClr>
                <a:schemeClr val="dk1"/>
              </a:buClr>
              <a:buSzPts val="4867"/>
              <a:buFont typeface="Arial"/>
              <a:buNone/>
              <a:defRPr sz="4867"/>
            </a:lvl2pPr>
            <a:lvl3pPr indent="-228600" lvl="2" marL="13716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None/>
              <a:defRPr sz="4056"/>
            </a:lvl3pPr>
            <a:lvl4pPr indent="-228600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"/>
          <p:cNvSpPr txBox="1"/>
          <p:nvPr>
            <p:ph idx="1" type="body"/>
          </p:nvPr>
        </p:nvSpPr>
        <p:spPr>
          <a:xfrm>
            <a:off x="1274231" y="2467430"/>
            <a:ext cx="14638800" cy="6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1pPr>
            <a:lvl2pPr indent="-228600" lvl="1" marL="9144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Golos Text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05" name="Google Shape;105;p31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108" name="Google Shape;108;p32"/>
          <p:cNvSpPr/>
          <p:nvPr>
            <p:ph idx="2" type="pic"/>
          </p:nvPr>
        </p:nvSpPr>
        <p:spPr>
          <a:xfrm>
            <a:off x="933450" y="1873704"/>
            <a:ext cx="9408900" cy="7684200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09" name="Google Shape;109;p32"/>
          <p:cNvSpPr txBox="1"/>
          <p:nvPr>
            <p:ph idx="1" type="body"/>
          </p:nvPr>
        </p:nvSpPr>
        <p:spPr>
          <a:xfrm>
            <a:off x="11245849" y="2307772"/>
            <a:ext cx="5171100" cy="6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112" name="Google Shape;112;p33"/>
          <p:cNvSpPr txBox="1"/>
          <p:nvPr>
            <p:ph idx="1" type="body"/>
          </p:nvPr>
        </p:nvSpPr>
        <p:spPr>
          <a:xfrm>
            <a:off x="933448" y="2080324"/>
            <a:ext cx="17128200" cy="7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lt1"/>
              </a:buClr>
              <a:buSzPts val="3650"/>
              <a:buFont typeface="Arial"/>
              <a:buNone/>
              <a:defRPr b="0" sz="36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73"/>
              </a:spcBef>
              <a:spcAft>
                <a:spcPts val="0"/>
              </a:spcAft>
              <a:buClr>
                <a:schemeClr val="dk1"/>
              </a:buClr>
              <a:buSzPts val="4867"/>
              <a:buFont typeface="Arial"/>
              <a:buNone/>
              <a:defRPr sz="4867"/>
            </a:lvl2pPr>
            <a:lvl3pPr indent="-228600" lvl="2" marL="13716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None/>
              <a:defRPr sz="4056"/>
            </a:lvl3pPr>
            <a:lvl4pPr indent="-228600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4"/>
          <p:cNvSpPr txBox="1"/>
          <p:nvPr>
            <p:ph idx="1" type="body"/>
          </p:nvPr>
        </p:nvSpPr>
        <p:spPr>
          <a:xfrm>
            <a:off x="1037165" y="35845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15" name="Google Shape;115;p34"/>
          <p:cNvSpPr txBox="1"/>
          <p:nvPr>
            <p:ph idx="2" type="body"/>
          </p:nvPr>
        </p:nvSpPr>
        <p:spPr>
          <a:xfrm>
            <a:off x="1037165" y="23649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16" name="Google Shape;116;p34"/>
          <p:cNvSpPr txBox="1"/>
          <p:nvPr>
            <p:ph idx="3" type="body"/>
          </p:nvPr>
        </p:nvSpPr>
        <p:spPr>
          <a:xfrm>
            <a:off x="10208682" y="60229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17" name="Google Shape;117;p34"/>
          <p:cNvSpPr txBox="1"/>
          <p:nvPr>
            <p:ph idx="4" type="body"/>
          </p:nvPr>
        </p:nvSpPr>
        <p:spPr>
          <a:xfrm>
            <a:off x="10208682" y="48033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18" name="Google Shape;118;p34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121" name="Google Shape;121;p35"/>
          <p:cNvSpPr/>
          <p:nvPr>
            <p:ph idx="2" type="pic"/>
          </p:nvPr>
        </p:nvSpPr>
        <p:spPr>
          <a:xfrm>
            <a:off x="933450" y="1873704"/>
            <a:ext cx="9408900" cy="7684200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11245849" y="2307772"/>
            <a:ext cx="5171100" cy="6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933448" y="2080324"/>
            <a:ext cx="17128200" cy="7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lt1"/>
              </a:buClr>
              <a:buSzPts val="3650"/>
              <a:buFont typeface="Arial"/>
              <a:buNone/>
              <a:defRPr b="0" sz="36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73"/>
              </a:spcBef>
              <a:spcAft>
                <a:spcPts val="0"/>
              </a:spcAft>
              <a:buClr>
                <a:schemeClr val="dk1"/>
              </a:buClr>
              <a:buSzPts val="4867"/>
              <a:buFont typeface="Arial"/>
              <a:buNone/>
              <a:defRPr sz="4867"/>
            </a:lvl2pPr>
            <a:lvl3pPr indent="-228600" lvl="2" marL="13716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None/>
              <a:defRPr sz="4056"/>
            </a:lvl3pPr>
            <a:lvl4pPr indent="-228600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Arial"/>
              <a:buNone/>
              <a:defRPr sz="3650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65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7"/>
          <p:cNvSpPr txBox="1"/>
          <p:nvPr>
            <p:ph type="title"/>
          </p:nvPr>
        </p:nvSpPr>
        <p:spPr>
          <a:xfrm>
            <a:off x="933450" y="612870"/>
            <a:ext cx="139332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9"/>
              <a:buFont typeface="Golos Text SemiBold"/>
              <a:buNone/>
              <a:defRPr sz="6489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128" name="Google Shape;128;p37"/>
          <p:cNvSpPr txBox="1"/>
          <p:nvPr>
            <p:ph idx="1" type="body"/>
          </p:nvPr>
        </p:nvSpPr>
        <p:spPr>
          <a:xfrm>
            <a:off x="1037165" y="35845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29" name="Google Shape;129;p37"/>
          <p:cNvSpPr txBox="1"/>
          <p:nvPr>
            <p:ph idx="2" type="body"/>
          </p:nvPr>
        </p:nvSpPr>
        <p:spPr>
          <a:xfrm>
            <a:off x="1037165" y="23649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30" name="Google Shape;130;p37"/>
          <p:cNvSpPr txBox="1"/>
          <p:nvPr>
            <p:ph idx="3" type="body"/>
          </p:nvPr>
        </p:nvSpPr>
        <p:spPr>
          <a:xfrm>
            <a:off x="10208682" y="6022972"/>
            <a:ext cx="74232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433"/>
              <a:buNone/>
              <a:defRPr sz="2433"/>
            </a:lvl1pPr>
            <a:lvl2pPr indent="-228600" lvl="1" marL="91440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None/>
              <a:defRPr sz="4056"/>
            </a:lvl2pPr>
            <a:lvl3pPr indent="-228600" lvl="2" marL="13716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3pPr>
            <a:lvl4pPr indent="-228600" lvl="3" marL="18288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31" name="Google Shape;131;p37"/>
          <p:cNvSpPr txBox="1"/>
          <p:nvPr>
            <p:ph idx="4" type="body"/>
          </p:nvPr>
        </p:nvSpPr>
        <p:spPr>
          <a:xfrm>
            <a:off x="10208682" y="4803318"/>
            <a:ext cx="6045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None/>
              <a:defRPr sz="3244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460375" lvl="1" marL="914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2pPr>
            <a:lvl3pPr indent="-460375" lvl="2" marL="1371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3pPr>
            <a:lvl4pPr indent="-460375" lvl="3" marL="1828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3244"/>
            </a:lvl4pPr>
            <a:lvl5pPr indent="-228600" lvl="4" marL="22860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244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 txBox="1"/>
          <p:nvPr>
            <p:ph type="title"/>
          </p:nvPr>
        </p:nvSpPr>
        <p:spPr>
          <a:xfrm>
            <a:off x="933450" y="612870"/>
            <a:ext cx="12846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89"/>
              <a:buFont typeface="Golos Text SemiBold"/>
              <a:buNone/>
              <a:defRPr sz="6489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39"/>
              <a:buNone/>
              <a:defRPr sz="3650"/>
            </a:lvl9pPr>
          </a:lstStyle>
          <a:p/>
        </p:txBody>
      </p:sp>
      <p:sp>
        <p:nvSpPr>
          <p:cNvPr id="134" name="Google Shape;134;p38"/>
          <p:cNvSpPr txBox="1"/>
          <p:nvPr>
            <p:ph idx="1" type="body"/>
          </p:nvPr>
        </p:nvSpPr>
        <p:spPr>
          <a:xfrm>
            <a:off x="11705167" y="1898660"/>
            <a:ext cx="5911800" cy="77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b="0" i="0" sz="2839"/>
            </a:lvl1pPr>
            <a:lvl2pPr indent="-228600" lvl="1" marL="9144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2pPr>
            <a:lvl3pPr indent="-228600" lvl="2" marL="13716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3pPr>
            <a:lvl4pPr indent="-228600" lvl="3" marL="18288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None/>
              <a:defRPr sz="2839"/>
            </a:lvl4pPr>
            <a:lvl5pPr indent="-228600" lvl="4" marL="2286000" algn="l">
              <a:lnSpc>
                <a:spcPct val="100000"/>
              </a:lnSpc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9"/>
              <a:buFont typeface="Arial"/>
              <a:buNone/>
              <a:defRPr sz="2839"/>
            </a:lvl5pPr>
            <a:lvl6pPr indent="-460375" lvl="5" marL="27432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6pPr>
            <a:lvl7pPr indent="-460375" lvl="6" marL="32004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7pPr>
            <a:lvl8pPr indent="-460375" lvl="7" marL="36576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8pPr>
            <a:lvl9pPr indent="-460375" lvl="8" marL="411480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3650"/>
              <a:buChar char="•"/>
              <a:defRPr sz="4056"/>
            </a:lvl9pPr>
          </a:lstStyle>
          <a:p/>
        </p:txBody>
      </p:sp>
      <p:sp>
        <p:nvSpPr>
          <p:cNvPr id="135" name="Google Shape;135;p38"/>
          <p:cNvSpPr/>
          <p:nvPr>
            <p:ph idx="2" type="pic"/>
          </p:nvPr>
        </p:nvSpPr>
        <p:spPr>
          <a:xfrm>
            <a:off x="933450" y="1898658"/>
            <a:ext cx="5171100" cy="37659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6" name="Google Shape;136;p38"/>
          <p:cNvSpPr/>
          <p:nvPr>
            <p:ph idx="3" type="pic"/>
          </p:nvPr>
        </p:nvSpPr>
        <p:spPr>
          <a:xfrm>
            <a:off x="6319307" y="1898656"/>
            <a:ext cx="5171100" cy="3765900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7" name="Google Shape;137;p38"/>
          <p:cNvSpPr/>
          <p:nvPr>
            <p:ph idx="4" type="pic"/>
          </p:nvPr>
        </p:nvSpPr>
        <p:spPr>
          <a:xfrm>
            <a:off x="6319307" y="5924062"/>
            <a:ext cx="5171100" cy="37659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8" name="Google Shape;138;p38"/>
          <p:cNvSpPr/>
          <p:nvPr>
            <p:ph idx="5" type="pic"/>
          </p:nvPr>
        </p:nvSpPr>
        <p:spPr>
          <a:xfrm>
            <a:off x="933448" y="5924062"/>
            <a:ext cx="5171100" cy="37659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933450" y="612868"/>
            <a:ext cx="16802100" cy="12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Font typeface="Arial"/>
              <a:buNone/>
              <a:defRPr b="1" i="0" sz="7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  <a:defRPr b="0" i="0" sz="3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933450" y="2243824"/>
            <a:ext cx="16802100" cy="57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None/>
              <a:defRPr b="0" i="0" sz="4056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486156" lvl="1" marL="914400" marR="0" rtl="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Char char="•"/>
              <a:defRPr b="0" i="0" sz="4056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434594" lvl="2" marL="1371600" marR="0" rtl="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Char char="•"/>
              <a:defRPr b="0" i="0" sz="3244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434594" lvl="3" marL="1828800" marR="0" rtl="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Char char="•"/>
              <a:defRPr b="0" i="0" sz="3244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>
                <a:schemeClr val="dk1"/>
              </a:buClr>
              <a:buSzPts val="3244"/>
              <a:buFont typeface="Arial"/>
              <a:buNone/>
              <a:defRPr b="0" i="0" sz="3244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486156" lvl="5" marL="2743200" marR="0" rtl="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Char char="•"/>
              <a:defRPr b="0" i="0" sz="40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86156" lvl="6" marL="3200400" marR="0" rtl="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Char char="•"/>
              <a:defRPr b="0" i="0" sz="40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86156" lvl="7" marL="3657600" marR="0" rtl="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Char char="•"/>
              <a:defRPr b="0" i="0" sz="40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86156" lvl="8" marL="4114800" marR="0" rtl="0" algn="l">
              <a:lnSpc>
                <a:spcPct val="100000"/>
              </a:lnSpc>
              <a:spcBef>
                <a:spcPts val="811"/>
              </a:spcBef>
              <a:spcAft>
                <a:spcPts val="0"/>
              </a:spcAft>
              <a:buClr>
                <a:schemeClr val="dk1"/>
              </a:buClr>
              <a:buSzPts val="4056"/>
              <a:buFont typeface="Arial"/>
              <a:buChar char="•"/>
              <a:defRPr b="0" i="0" sz="40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1766146" y="8268250"/>
            <a:ext cx="377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1766146" y="8268250"/>
            <a:ext cx="377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CcbrQSsCq7getLNatxYyG1CZCKjhBsHQ/view" TargetMode="External"/><Relationship Id="rId4" Type="http://schemas.openxmlformats.org/officeDocument/2006/relationships/image" Target="../media/image3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44.png"/><Relationship Id="rId5" Type="http://schemas.openxmlformats.org/officeDocument/2006/relationships/image" Target="../media/image51.png"/><Relationship Id="rId6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title"/>
          </p:nvPr>
        </p:nvSpPr>
        <p:spPr>
          <a:xfrm>
            <a:off x="1136749" y="4656450"/>
            <a:ext cx="167115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22"/>
              <a:buFont typeface="Golos Text SemiBold"/>
              <a:buNone/>
            </a:pPr>
            <a:r>
              <a:rPr lang="ru-RU" sz="5272">
                <a:solidFill>
                  <a:schemeClr val="lt1"/>
                </a:solidFill>
              </a:rPr>
              <a:t>Разработка энергоэффективной системы распознавания голосовых команд с использованием нейронных сетей для устройств интернета вещей</a:t>
            </a:r>
            <a:endParaRPr sz="5272">
              <a:solidFill>
                <a:schemeClr val="lt1"/>
              </a:solidFill>
            </a:endParaRPr>
          </a:p>
        </p:txBody>
      </p:sp>
      <p:sp>
        <p:nvSpPr>
          <p:cNvPr id="145" name="Google Shape;145;p1"/>
          <p:cNvSpPr txBox="1"/>
          <p:nvPr/>
        </p:nvSpPr>
        <p:spPr>
          <a:xfrm>
            <a:off x="9026974" y="6934300"/>
            <a:ext cx="8821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rPr b="1" i="0" lang="ru-RU" sz="2839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Выполнил:</a:t>
            </a:r>
            <a:endParaRPr b="1" i="0" sz="2839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rPr b="0" i="0" lang="ru-RU" sz="2839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 группы P3431</a:t>
            </a:r>
            <a:endParaRPr b="0" i="0" sz="2839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rPr b="0" i="0" lang="ru-RU" sz="2839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Дворкин Борис Александрович</a:t>
            </a:r>
            <a:endParaRPr b="0" i="0" sz="2839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t/>
            </a:r>
            <a:endParaRPr b="0" i="0" sz="2839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rPr b="1" i="0" lang="ru-RU" sz="2839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руководитель:</a:t>
            </a:r>
            <a:endParaRPr b="1" i="0" sz="2839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9"/>
              <a:buFont typeface="Arial"/>
              <a:buNone/>
            </a:pPr>
            <a:r>
              <a:rPr b="0" i="0" lang="ru-RU" sz="2839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Быковский Сергей Вячеславович</a:t>
            </a:r>
            <a:endParaRPr b="0" i="0" sz="2839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3b9a9254b_0_432"/>
          <p:cNvSpPr txBox="1"/>
          <p:nvPr/>
        </p:nvSpPr>
        <p:spPr>
          <a:xfrm>
            <a:off x="17571600" y="9611400"/>
            <a:ext cx="10974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2/15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2" name="Google Shape;152;g3e3b9a9254b_0_432"/>
          <p:cNvSpPr txBox="1"/>
          <p:nvPr>
            <p:ph type="title"/>
          </p:nvPr>
        </p:nvSpPr>
        <p:spPr>
          <a:xfrm>
            <a:off x="840100" y="651819"/>
            <a:ext cx="12846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sz="6489"/>
              <a:t>Актуальность и проблематика</a:t>
            </a:r>
            <a:endParaRPr sz="6489"/>
          </a:p>
        </p:txBody>
      </p:sp>
      <p:sp>
        <p:nvSpPr>
          <p:cNvPr id="153" name="Google Shape;153;g3e3b9a9254b_0_4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</a:t>
            </a:r>
            <a:endParaRPr/>
          </a:p>
        </p:txBody>
      </p:sp>
      <p:cxnSp>
        <p:nvCxnSpPr>
          <p:cNvPr id="154" name="Google Shape;154;g3e3b9a9254b_0_432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g3e3b9a9254b_0_432"/>
          <p:cNvSpPr/>
          <p:nvPr/>
        </p:nvSpPr>
        <p:spPr>
          <a:xfrm>
            <a:off x="840105" y="2103120"/>
            <a:ext cx="16989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i="1" lang="ru-RU" sz="30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Голосовое управление в IoT требует одновременно двух несовместимых вещей</a:t>
            </a:r>
            <a:endParaRPr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6" name="Google Shape;156;g3e3b9a9254b_0_432"/>
          <p:cNvSpPr/>
          <p:nvPr/>
        </p:nvSpPr>
        <p:spPr>
          <a:xfrm>
            <a:off x="840105" y="3200400"/>
            <a:ext cx="6347400" cy="4572000"/>
          </a:xfrm>
          <a:prstGeom prst="rect">
            <a:avLst/>
          </a:prstGeom>
          <a:solidFill>
            <a:srgbClr val="FAFAFA"/>
          </a:solidFill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g3e3b9a9254b_0_4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830" y="37490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e3b9a9254b_0_432"/>
          <p:cNvSpPr/>
          <p:nvPr/>
        </p:nvSpPr>
        <p:spPr>
          <a:xfrm>
            <a:off x="2707005" y="3749040"/>
            <a:ext cx="4200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2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Непрерывное прослушивание</a:t>
            </a:r>
            <a:endParaRPr i="0" sz="3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9" name="Google Shape;159;g3e3b9a9254b_0_432"/>
          <p:cNvSpPr/>
          <p:nvPr/>
        </p:nvSpPr>
        <p:spPr>
          <a:xfrm>
            <a:off x="1306830" y="5120640"/>
            <a:ext cx="5413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Устройство всегда готово </a:t>
            </a:r>
            <a:endParaRPr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принять голосовую команду</a:t>
            </a:r>
            <a:endParaRPr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0" name="Google Shape;160;g3e3b9a9254b_0_432"/>
          <p:cNvSpPr/>
          <p:nvPr/>
        </p:nvSpPr>
        <p:spPr>
          <a:xfrm>
            <a:off x="1306830" y="6583680"/>
            <a:ext cx="5413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1" lang="ru-RU" sz="22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звуковой тракт работает 24/7</a:t>
            </a:r>
            <a:endParaRPr i="0" sz="22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1" name="Google Shape;161;g3e3b9a9254b_0_432"/>
          <p:cNvSpPr/>
          <p:nvPr/>
        </p:nvSpPr>
        <p:spPr>
          <a:xfrm>
            <a:off x="11481435" y="3200400"/>
            <a:ext cx="6347400" cy="4572000"/>
          </a:xfrm>
          <a:prstGeom prst="rect">
            <a:avLst/>
          </a:prstGeom>
          <a:solidFill>
            <a:srgbClr val="FAFAFA"/>
          </a:solidFill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g3e3b9a9254b_0_4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48160" y="37490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e3b9a9254b_0_432"/>
          <p:cNvSpPr/>
          <p:nvPr/>
        </p:nvSpPr>
        <p:spPr>
          <a:xfrm>
            <a:off x="13348335" y="3749040"/>
            <a:ext cx="4200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2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Автономность от батареи</a:t>
            </a:r>
            <a:endParaRPr i="0" sz="3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64" name="Google Shape;164;g3e3b9a9254b_0_432"/>
          <p:cNvSpPr/>
          <p:nvPr/>
        </p:nvSpPr>
        <p:spPr>
          <a:xfrm>
            <a:off x="11948160" y="5120640"/>
            <a:ext cx="5413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Ограниченный энергетический </a:t>
            </a:r>
            <a:endParaRPr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бюджет устройства</a:t>
            </a:r>
            <a:endParaRPr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5" name="Google Shape;165;g3e3b9a9254b_0_432"/>
          <p:cNvSpPr/>
          <p:nvPr/>
        </p:nvSpPr>
        <p:spPr>
          <a:xfrm>
            <a:off x="11948160" y="6583680"/>
            <a:ext cx="5413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1" lang="ru-RU" sz="22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без частого обслуживания и проводов</a:t>
            </a:r>
            <a:endParaRPr i="0" sz="22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6" name="Google Shape;166;g3e3b9a9254b_0_432"/>
          <p:cNvSpPr/>
          <p:nvPr/>
        </p:nvSpPr>
        <p:spPr>
          <a:xfrm>
            <a:off x="7187565" y="4800600"/>
            <a:ext cx="4293600" cy="1371600"/>
          </a:xfrm>
          <a:prstGeom prst="rect">
            <a:avLst/>
          </a:prstGeom>
          <a:solidFill>
            <a:srgbClr val="7B2CBF"/>
          </a:solidFill>
          <a:ln>
            <a:noFill/>
          </a:ln>
          <a:effectLst>
            <a:outerShdw blurRad="206022" rotWithShape="0" algn="bl" dir="5400000" dist="51506">
              <a:srgbClr val="000000">
                <a:alpha val="14900"/>
              </a:srgbClr>
            </a:outerShdw>
          </a:effectLst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g3e3b9a9254b_0_4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3607" y="520293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e3b9a9254b_0_432"/>
          <p:cNvSpPr/>
          <p:nvPr/>
        </p:nvSpPr>
        <p:spPr>
          <a:xfrm>
            <a:off x="8214360" y="4800600"/>
            <a:ext cx="3174000" cy="13716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ПРОТИВОРЕЧИЕ</a:t>
            </a:r>
            <a:endParaRPr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9" name="Google Shape;169;g3e3b9a9254b_0_432"/>
          <p:cNvSpPr/>
          <p:nvPr/>
        </p:nvSpPr>
        <p:spPr>
          <a:xfrm>
            <a:off x="840105" y="8138160"/>
            <a:ext cx="16989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следствие — </a:t>
            </a:r>
            <a:r>
              <a:rPr i="0" lang="ru-RU" sz="28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избыточное энергопотребление и потеря автономности батарейных IoT-устройств</a:t>
            </a:r>
            <a:endParaRPr i="0" sz="2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3b9a9254b_0_574"/>
          <p:cNvSpPr txBox="1"/>
          <p:nvPr/>
        </p:nvSpPr>
        <p:spPr>
          <a:xfrm>
            <a:off x="17604550" y="9611400"/>
            <a:ext cx="10644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3/15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6" name="Google Shape;176;g3e3b9a9254b_0_574"/>
          <p:cNvSpPr txBox="1"/>
          <p:nvPr>
            <p:ph type="title"/>
          </p:nvPr>
        </p:nvSpPr>
        <p:spPr>
          <a:xfrm>
            <a:off x="933450" y="612870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sz="6489"/>
              <a:t>Цель и критерии достиж</a:t>
            </a:r>
            <a:r>
              <a:rPr lang="ru-RU"/>
              <a:t>имости</a:t>
            </a:r>
            <a:endParaRPr sz="6489"/>
          </a:p>
        </p:txBody>
      </p:sp>
      <p:sp>
        <p:nvSpPr>
          <p:cNvPr id="177" name="Google Shape;177;g3e3b9a9254b_0_574"/>
          <p:cNvSpPr/>
          <p:nvPr/>
        </p:nvSpPr>
        <p:spPr>
          <a:xfrm>
            <a:off x="840100" y="1863576"/>
            <a:ext cx="16989000" cy="2342700"/>
          </a:xfrm>
          <a:prstGeom prst="rect">
            <a:avLst/>
          </a:prstGeom>
          <a:solidFill>
            <a:srgbClr val="F2E7FA"/>
          </a:solidFill>
          <a:ln cap="flat" cmpd="sng" w="19325">
            <a:solidFill>
              <a:srgbClr val="C9A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3b9a9254b_0_574"/>
          <p:cNvSpPr/>
          <p:nvPr/>
        </p:nvSpPr>
        <p:spPr>
          <a:xfrm>
            <a:off x="840101" y="1863425"/>
            <a:ext cx="167700" cy="23427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3b9a9254b_0_574"/>
          <p:cNvSpPr/>
          <p:nvPr/>
        </p:nvSpPr>
        <p:spPr>
          <a:xfrm>
            <a:off x="1400175" y="2041513"/>
            <a:ext cx="160554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2000"/>
              <a:buFont typeface="Calibri"/>
              <a:buNone/>
            </a:pPr>
            <a:r>
              <a:rPr i="0" lang="ru-RU" sz="2800" u="none" cap="none" strike="noStrike">
                <a:solidFill>
                  <a:srgbClr val="5A189A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ЦЕЛЬ РАБОТЫ</a:t>
            </a:r>
            <a:endParaRPr i="0" sz="28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180" name="Google Shape;180;g3e3b9a9254b_0_574"/>
          <p:cNvSpPr/>
          <p:nvPr/>
        </p:nvSpPr>
        <p:spPr>
          <a:xfrm>
            <a:off x="1400175" y="2650426"/>
            <a:ext cx="16428900" cy="15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Снижение энергопотребления устройств интернета вещей с функцией голосового управления за счёт применения каскадного метода управления режимами работы и использования квантизированных нейронных сетей для распознавания ключевых слов голосовых команд.</a:t>
            </a:r>
            <a:endParaRPr sz="2700">
              <a:solidFill>
                <a:srgbClr val="0F0F0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1" name="Google Shape;181;g3e3b9a9254b_0_574"/>
          <p:cNvSpPr/>
          <p:nvPr/>
        </p:nvSpPr>
        <p:spPr>
          <a:xfrm>
            <a:off x="840105" y="4663440"/>
            <a:ext cx="16989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b="1" i="0" lang="ru-RU" sz="26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КРИТЕРИИ ДОСТИЖИМОСТИ</a:t>
            </a:r>
            <a:endParaRPr b="1"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2" name="Google Shape;182;g3e3b9a9254b_0_574"/>
          <p:cNvSpPr/>
          <p:nvPr/>
        </p:nvSpPr>
        <p:spPr>
          <a:xfrm>
            <a:off x="840105" y="5303520"/>
            <a:ext cx="1307100" cy="731400"/>
          </a:xfrm>
          <a:prstGeom prst="roundRect">
            <a:avLst>
              <a:gd fmla="val 15000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3b9a9254b_0_574"/>
          <p:cNvSpPr/>
          <p:nvPr/>
        </p:nvSpPr>
        <p:spPr>
          <a:xfrm>
            <a:off x="840105" y="5303520"/>
            <a:ext cx="130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C1</a:t>
            </a:r>
            <a:endParaRPr i="0" sz="2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4" name="Google Shape;184;g3e3b9a9254b_0_574"/>
          <p:cNvSpPr/>
          <p:nvPr/>
        </p:nvSpPr>
        <p:spPr>
          <a:xfrm>
            <a:off x="2426970" y="5303520"/>
            <a:ext cx="9987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Точность распознавания</a:t>
            </a:r>
            <a:r>
              <a:rPr i="1" lang="ru-RU" sz="28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   MLPerf Tiny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85" name="Google Shape;185;g3e3b9a9254b_0_574"/>
          <p:cNvSpPr/>
          <p:nvPr/>
        </p:nvSpPr>
        <p:spPr>
          <a:xfrm>
            <a:off x="12788265" y="5303520"/>
            <a:ext cx="504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3200"/>
              <a:buFont typeface="Calibri"/>
              <a:buNone/>
            </a:pPr>
            <a:r>
              <a:rPr i="0" lang="ru-RU" sz="3200" u="none" cap="none" strike="noStrike">
                <a:solidFill>
                  <a:srgbClr val="5A189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≥ 90 %</a:t>
            </a:r>
            <a:endParaRPr i="0" sz="3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cxnSp>
        <p:nvCxnSpPr>
          <p:cNvPr id="186" name="Google Shape;186;g3e3b9a9254b_0_574"/>
          <p:cNvCxnSpPr/>
          <p:nvPr/>
        </p:nvCxnSpPr>
        <p:spPr>
          <a:xfrm>
            <a:off x="840105" y="6071616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g3e3b9a9254b_0_574"/>
          <p:cNvSpPr/>
          <p:nvPr/>
        </p:nvSpPr>
        <p:spPr>
          <a:xfrm>
            <a:off x="840105" y="6108192"/>
            <a:ext cx="1307100" cy="731400"/>
          </a:xfrm>
          <a:prstGeom prst="roundRect">
            <a:avLst>
              <a:gd fmla="val 15000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3b9a9254b_0_574"/>
          <p:cNvSpPr/>
          <p:nvPr/>
        </p:nvSpPr>
        <p:spPr>
          <a:xfrm>
            <a:off x="840105" y="6108192"/>
            <a:ext cx="130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C2</a:t>
            </a:r>
            <a:endParaRPr i="0" sz="2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9" name="Google Shape;189;g3e3b9a9254b_0_574"/>
          <p:cNvSpPr/>
          <p:nvPr/>
        </p:nvSpPr>
        <p:spPr>
          <a:xfrm>
            <a:off x="2426970" y="6108192"/>
            <a:ext cx="9987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Размер модели</a:t>
            </a:r>
            <a:r>
              <a:rPr i="1" lang="ru-RU" sz="28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   внутренний SRAM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90" name="Google Shape;190;g3e3b9a9254b_0_574"/>
          <p:cNvSpPr/>
          <p:nvPr/>
        </p:nvSpPr>
        <p:spPr>
          <a:xfrm>
            <a:off x="12788265" y="6108192"/>
            <a:ext cx="504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3200"/>
              <a:buFont typeface="Calibri"/>
              <a:buNone/>
            </a:pPr>
            <a:r>
              <a:rPr i="0" lang="ru-RU" sz="3200" u="none" cap="none" strike="noStrike">
                <a:solidFill>
                  <a:srgbClr val="5A189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≤ 128 КБ</a:t>
            </a:r>
            <a:endParaRPr i="0" sz="3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cxnSp>
        <p:nvCxnSpPr>
          <p:cNvPr id="191" name="Google Shape;191;g3e3b9a9254b_0_574"/>
          <p:cNvCxnSpPr/>
          <p:nvPr/>
        </p:nvCxnSpPr>
        <p:spPr>
          <a:xfrm>
            <a:off x="840105" y="6876288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g3e3b9a9254b_0_574"/>
          <p:cNvSpPr/>
          <p:nvPr/>
        </p:nvSpPr>
        <p:spPr>
          <a:xfrm>
            <a:off x="840105" y="6912864"/>
            <a:ext cx="1307100" cy="731400"/>
          </a:xfrm>
          <a:prstGeom prst="roundRect">
            <a:avLst>
              <a:gd fmla="val 15000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3b9a9254b_0_574"/>
          <p:cNvSpPr/>
          <p:nvPr/>
        </p:nvSpPr>
        <p:spPr>
          <a:xfrm>
            <a:off x="840105" y="6912864"/>
            <a:ext cx="130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ru-RU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3b9a9254b_0_574"/>
          <p:cNvSpPr/>
          <p:nvPr/>
        </p:nvSpPr>
        <p:spPr>
          <a:xfrm>
            <a:off x="2426970" y="6912864"/>
            <a:ext cx="9987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Потеря точности от квантизации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95" name="Google Shape;195;g3e3b9a9254b_0_574"/>
          <p:cNvSpPr/>
          <p:nvPr/>
        </p:nvSpPr>
        <p:spPr>
          <a:xfrm>
            <a:off x="12788265" y="6912864"/>
            <a:ext cx="504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3200"/>
              <a:buFont typeface="Calibri"/>
              <a:buNone/>
            </a:pPr>
            <a:r>
              <a:rPr i="0" lang="ru-RU" sz="3200" u="none" cap="none" strike="noStrike">
                <a:solidFill>
                  <a:srgbClr val="5A189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≤ 1 </a:t>
            </a:r>
            <a:r>
              <a:rPr lang="ru-RU" sz="3200">
                <a:solidFill>
                  <a:srgbClr val="5A189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%</a:t>
            </a:r>
            <a:endParaRPr i="0" sz="3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cxnSp>
        <p:nvCxnSpPr>
          <p:cNvPr id="196" name="Google Shape;196;g3e3b9a9254b_0_574"/>
          <p:cNvCxnSpPr/>
          <p:nvPr/>
        </p:nvCxnSpPr>
        <p:spPr>
          <a:xfrm>
            <a:off x="840105" y="76809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g3e3b9a9254b_0_574"/>
          <p:cNvSpPr/>
          <p:nvPr/>
        </p:nvSpPr>
        <p:spPr>
          <a:xfrm>
            <a:off x="840105" y="7717536"/>
            <a:ext cx="1307100" cy="731400"/>
          </a:xfrm>
          <a:prstGeom prst="roundRect">
            <a:avLst>
              <a:gd fmla="val 15000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3b9a9254b_0_574"/>
          <p:cNvSpPr/>
          <p:nvPr/>
        </p:nvSpPr>
        <p:spPr>
          <a:xfrm>
            <a:off x="840105" y="7717536"/>
            <a:ext cx="130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ru-RU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3b9a9254b_0_574"/>
          <p:cNvSpPr/>
          <p:nvPr/>
        </p:nvSpPr>
        <p:spPr>
          <a:xfrm>
            <a:off x="2426970" y="7717536"/>
            <a:ext cx="9987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Латентность инференса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00" name="Google Shape;200;g3e3b9a9254b_0_574"/>
          <p:cNvSpPr/>
          <p:nvPr/>
        </p:nvSpPr>
        <p:spPr>
          <a:xfrm>
            <a:off x="12788265" y="7717536"/>
            <a:ext cx="504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3200"/>
              <a:buFont typeface="Calibri"/>
              <a:buNone/>
            </a:pPr>
            <a:r>
              <a:rPr i="0" lang="ru-RU" sz="3200" u="none" cap="none" strike="noStrike">
                <a:solidFill>
                  <a:srgbClr val="5A189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≤ 500 мс</a:t>
            </a:r>
            <a:endParaRPr i="0" sz="3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cxnSp>
        <p:nvCxnSpPr>
          <p:cNvPr id="201" name="Google Shape;201;g3e3b9a9254b_0_574"/>
          <p:cNvCxnSpPr/>
          <p:nvPr/>
        </p:nvCxnSpPr>
        <p:spPr>
          <a:xfrm>
            <a:off x="840105" y="8485632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g3e3b9a9254b_0_574"/>
          <p:cNvSpPr/>
          <p:nvPr/>
        </p:nvSpPr>
        <p:spPr>
          <a:xfrm>
            <a:off x="840105" y="8522208"/>
            <a:ext cx="1307100" cy="731400"/>
          </a:xfrm>
          <a:prstGeom prst="roundRect">
            <a:avLst>
              <a:gd fmla="val 15000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e3b9a9254b_0_574"/>
          <p:cNvSpPr/>
          <p:nvPr/>
        </p:nvSpPr>
        <p:spPr>
          <a:xfrm>
            <a:off x="840105" y="8522208"/>
            <a:ext cx="130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ru-RU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e3b9a9254b_0_574"/>
          <p:cNvSpPr/>
          <p:nvPr/>
        </p:nvSpPr>
        <p:spPr>
          <a:xfrm>
            <a:off x="2426970" y="8522208"/>
            <a:ext cx="9987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Снижение средней мощности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05" name="Google Shape;205;g3e3b9a9254b_0_574"/>
          <p:cNvSpPr/>
          <p:nvPr/>
        </p:nvSpPr>
        <p:spPr>
          <a:xfrm>
            <a:off x="12788265" y="8522208"/>
            <a:ext cx="504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3200"/>
              <a:buFont typeface="Calibri"/>
              <a:buNone/>
            </a:pPr>
            <a:r>
              <a:rPr i="0" lang="ru-RU" sz="3200" u="none" cap="none" strike="noStrike">
                <a:solidFill>
                  <a:srgbClr val="5A189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≥ ×</a:t>
            </a:r>
            <a:r>
              <a:rPr lang="ru-RU" sz="3200">
                <a:solidFill>
                  <a:srgbClr val="5A189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100</a:t>
            </a:r>
            <a:endParaRPr i="0" sz="3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06" name="Google Shape;206;g3e3b9a9254b_0_574"/>
          <p:cNvSpPr/>
          <p:nvPr/>
        </p:nvSpPr>
        <p:spPr>
          <a:xfrm>
            <a:off x="840105" y="9509760"/>
            <a:ext cx="169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000"/>
              <a:buFont typeface="Calibri"/>
              <a:buNone/>
            </a:pPr>
            <a:r>
              <a:rPr b="0" i="1" lang="ru-RU" sz="2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итоговые значения по каждому критерию приводятся в выводах работы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e3b9a9254b_0_574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0a3c5c347_0_5"/>
          <p:cNvSpPr txBox="1"/>
          <p:nvPr>
            <p:ph type="title"/>
          </p:nvPr>
        </p:nvSpPr>
        <p:spPr>
          <a:xfrm>
            <a:off x="933450" y="612870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sz="6489"/>
              <a:t>Задачи</a:t>
            </a:r>
            <a:endParaRPr sz="6489"/>
          </a:p>
        </p:txBody>
      </p:sp>
      <p:sp>
        <p:nvSpPr>
          <p:cNvPr id="213" name="Google Shape;213;g3d0a3c5c347_0_5"/>
          <p:cNvSpPr txBox="1"/>
          <p:nvPr>
            <p:ph idx="1" type="body"/>
          </p:nvPr>
        </p:nvSpPr>
        <p:spPr>
          <a:xfrm>
            <a:off x="933450" y="2249075"/>
            <a:ext cx="15400800" cy="70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365000" spcFirstLastPara="1" rIns="185400" wrap="square" tIns="92675">
            <a:noAutofit/>
          </a:bodyPr>
          <a:lstStyle/>
          <a:p>
            <a:pPr indent="-643820" lvl="0" marL="927100" rtl="0" algn="l">
              <a:lnSpc>
                <a:spcPct val="80000"/>
              </a:lnSpc>
              <a:spcBef>
                <a:spcPts val="568"/>
              </a:spcBef>
              <a:spcAft>
                <a:spcPts val="0"/>
              </a:spcAft>
              <a:buSzPts val="2839"/>
              <a:buAutoNum type="arabicPeriod"/>
            </a:pPr>
            <a:r>
              <a:rPr lang="ru-RU" sz="2839"/>
              <a:t>Провести анализ существующих методов и систем распознавания ключевых слов </a:t>
            </a:r>
            <a:r>
              <a:rPr lang="ru-RU"/>
              <a:t>голосовых команд</a:t>
            </a:r>
            <a:r>
              <a:rPr lang="ru-RU" sz="2839"/>
              <a:t>, выявить основные источники избыточного энергопотребления в режиме непрерывного голосового мониторинга и сформулировать требования к энергоэффективному решению.</a:t>
            </a:r>
            <a:endParaRPr sz="2839"/>
          </a:p>
          <a:p>
            <a:pPr indent="-643820" lvl="0" marL="927100" rtl="0" algn="l">
              <a:lnSpc>
                <a:spcPct val="80000"/>
              </a:lnSpc>
              <a:spcBef>
                <a:spcPts val="1014"/>
              </a:spcBef>
              <a:spcAft>
                <a:spcPts val="0"/>
              </a:spcAft>
              <a:buSzPts val="2839"/>
              <a:buAutoNum type="arabicPeriod"/>
            </a:pPr>
            <a:r>
              <a:rPr lang="ru-RU" sz="2839"/>
              <a:t>Предложить каскадную архитектуру детекции ключевых слов, разделяющую процесс на этапы с возрастающей вычислительной сложностью и управлением режимами энергопотребления, допускающую реализацию на различных микроконтроллерных платформах.</a:t>
            </a:r>
            <a:endParaRPr sz="2839"/>
          </a:p>
          <a:p>
            <a:pPr indent="-643820" lvl="0" marL="927100" rtl="0" algn="l">
              <a:lnSpc>
                <a:spcPct val="80000"/>
              </a:lnSpc>
              <a:spcBef>
                <a:spcPts val="1014"/>
              </a:spcBef>
              <a:spcAft>
                <a:spcPts val="0"/>
              </a:spcAft>
              <a:buSzPts val="2839"/>
              <a:buAutoNum type="arabicPeriod"/>
            </a:pPr>
            <a:r>
              <a:rPr lang="ru-RU" sz="2839"/>
              <a:t>Исследовать влияние методов квантизации (PTQ, QAT) на точность, размер и вычислительную сложность нейросетевой модели классификатора ключевых слов.</a:t>
            </a:r>
            <a:endParaRPr sz="2839"/>
          </a:p>
          <a:p>
            <a:pPr indent="-643820" lvl="0" marL="927100" rtl="0" algn="l">
              <a:lnSpc>
                <a:spcPct val="80000"/>
              </a:lnSpc>
              <a:spcBef>
                <a:spcPts val="1014"/>
              </a:spcBef>
              <a:spcAft>
                <a:spcPts val="0"/>
              </a:spcAft>
              <a:buSzPts val="2839"/>
              <a:buAutoNum type="arabicPeriod"/>
            </a:pPr>
            <a:r>
              <a:rPr lang="ru-RU" sz="2839"/>
              <a:t>Провести экспериментальную апробацию предложенного подхода на микроконтроллерной платформе ESP32-S3 с использованием </a:t>
            </a:r>
            <a:r>
              <a:rPr lang="ru-RU"/>
              <a:t>лабораторного</a:t>
            </a:r>
            <a:r>
              <a:rPr lang="ru-RU" sz="2839"/>
              <a:t> стенда.</a:t>
            </a:r>
            <a:endParaRPr sz="2839"/>
          </a:p>
          <a:p>
            <a:pPr indent="-643820" lvl="0" marL="927100" rtl="0" algn="l">
              <a:lnSpc>
                <a:spcPct val="80000"/>
              </a:lnSpc>
              <a:spcBef>
                <a:spcPts val="1014"/>
              </a:spcBef>
              <a:spcAft>
                <a:spcPts val="0"/>
              </a:spcAft>
              <a:buSzPts val="2839"/>
              <a:buAutoNum type="arabicPeriod"/>
            </a:pPr>
            <a:r>
              <a:rPr lang="ru-RU" sz="2839"/>
              <a:t>Выполнить сравнительную оценку энергоэффективности предложенного решения относительно базовых сценариев и проанализировать вклад каждого компонента архитектуры в общее снижение энергопотребления.</a:t>
            </a:r>
            <a:endParaRPr sz="2839"/>
          </a:p>
        </p:txBody>
      </p:sp>
      <p:sp>
        <p:nvSpPr>
          <p:cNvPr id="214" name="Google Shape;214;g3d0a3c5c347_0_5"/>
          <p:cNvSpPr txBox="1"/>
          <p:nvPr/>
        </p:nvSpPr>
        <p:spPr>
          <a:xfrm>
            <a:off x="17543950" y="9611400"/>
            <a:ext cx="11247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4/15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3b9a9254b_0_748"/>
          <p:cNvSpPr txBox="1"/>
          <p:nvPr/>
        </p:nvSpPr>
        <p:spPr>
          <a:xfrm>
            <a:off x="17634850" y="9611400"/>
            <a:ext cx="10341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5/15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1" name="Google Shape;221;g3e3b9a9254b_0_748"/>
          <p:cNvSpPr txBox="1"/>
          <p:nvPr>
            <p:ph type="title"/>
          </p:nvPr>
        </p:nvSpPr>
        <p:spPr>
          <a:xfrm>
            <a:off x="505175" y="551050"/>
            <a:ext cx="144663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40"/>
              <a:buFont typeface="Golos Text SemiBold"/>
              <a:buNone/>
            </a:pPr>
            <a:r>
              <a:rPr lang="ru-RU" sz="5740"/>
              <a:t>Задача 1. Анализ предметной области</a:t>
            </a:r>
            <a:endParaRPr sz="5740"/>
          </a:p>
        </p:txBody>
      </p:sp>
      <p:sp>
        <p:nvSpPr>
          <p:cNvPr id="222" name="Google Shape;222;g3e3b9a9254b_0_748"/>
          <p:cNvSpPr/>
          <p:nvPr/>
        </p:nvSpPr>
        <p:spPr>
          <a:xfrm>
            <a:off x="932685" y="1783075"/>
            <a:ext cx="3785700" cy="669780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3b9a9254b_0_748"/>
          <p:cNvSpPr/>
          <p:nvPr/>
        </p:nvSpPr>
        <p:spPr>
          <a:xfrm>
            <a:off x="1005834" y="1783075"/>
            <a:ext cx="3632100" cy="639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3b9a9254b_0_748"/>
          <p:cNvSpPr/>
          <p:nvPr/>
        </p:nvSpPr>
        <p:spPr>
          <a:xfrm>
            <a:off x="1136778" y="1984248"/>
            <a:ext cx="338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Golos Text"/>
              <a:buNone/>
            </a:pPr>
            <a:r>
              <a:rPr i="0" lang="ru-RU" sz="16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ВЫЯВЛЕНО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e3b9a9254b_0_748"/>
          <p:cNvSpPr/>
          <p:nvPr/>
        </p:nvSpPr>
        <p:spPr>
          <a:xfrm>
            <a:off x="1136778" y="2286000"/>
            <a:ext cx="338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i="0" lang="ru-RU" sz="17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Источники избыточного потребления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3b9a9254b_0_748"/>
          <p:cNvSpPr/>
          <p:nvPr/>
        </p:nvSpPr>
        <p:spPr>
          <a:xfrm>
            <a:off x="1136778" y="3328460"/>
            <a:ext cx="502800" cy="5028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3b9a9254b_0_748"/>
          <p:cNvSpPr/>
          <p:nvPr/>
        </p:nvSpPr>
        <p:spPr>
          <a:xfrm>
            <a:off x="1136778" y="33284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olos Text"/>
              <a:buNone/>
            </a:pPr>
            <a:r>
              <a:rPr b="1" i="0" lang="ru-RU" sz="17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e3b9a9254b_0_748"/>
          <p:cNvSpPr/>
          <p:nvPr/>
        </p:nvSpPr>
        <p:spPr>
          <a:xfrm>
            <a:off x="1776847" y="3310172"/>
            <a:ext cx="274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olos Text"/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Непрерывный захват аудио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e3b9a9254b_0_748"/>
          <p:cNvSpPr/>
          <p:nvPr/>
        </p:nvSpPr>
        <p:spPr>
          <a:xfrm>
            <a:off x="1776847" y="36942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звуковой тракт всегда активен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e3b9a9254b_0_748"/>
          <p:cNvSpPr/>
          <p:nvPr/>
        </p:nvSpPr>
        <p:spPr>
          <a:xfrm>
            <a:off x="1136778" y="4530775"/>
            <a:ext cx="502800" cy="5028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3b9a9254b_0_748"/>
          <p:cNvSpPr/>
          <p:nvPr/>
        </p:nvSpPr>
        <p:spPr>
          <a:xfrm>
            <a:off x="1136778" y="4530775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olos Text"/>
              <a:buNone/>
            </a:pPr>
            <a:r>
              <a:rPr b="1" i="0" lang="ru-RU" sz="17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3b9a9254b_0_748"/>
          <p:cNvSpPr/>
          <p:nvPr/>
        </p:nvSpPr>
        <p:spPr>
          <a:xfrm>
            <a:off x="1776847" y="4512487"/>
            <a:ext cx="274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olos Text"/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Постоянная активность ЦПУ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3b9a9254b_0_748"/>
          <p:cNvSpPr/>
          <p:nvPr/>
        </p:nvSpPr>
        <p:spPr>
          <a:xfrm>
            <a:off x="1776847" y="498154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нет переходов в глубокий сон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3b9a9254b_0_748"/>
          <p:cNvSpPr/>
          <p:nvPr/>
        </p:nvSpPr>
        <p:spPr>
          <a:xfrm>
            <a:off x="1136778" y="5739943"/>
            <a:ext cx="502800" cy="5028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3b9a9254b_0_748"/>
          <p:cNvSpPr/>
          <p:nvPr/>
        </p:nvSpPr>
        <p:spPr>
          <a:xfrm>
            <a:off x="1136778" y="5739943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olos Text"/>
              <a:buNone/>
            </a:pPr>
            <a:r>
              <a:rPr b="1" i="0" lang="ru-RU" sz="17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3b9a9254b_0_748"/>
          <p:cNvSpPr/>
          <p:nvPr/>
        </p:nvSpPr>
        <p:spPr>
          <a:xfrm>
            <a:off x="1776847" y="5721655"/>
            <a:ext cx="274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olos Text"/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Избыточная сложность моделей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3b9a9254b_0_748"/>
          <p:cNvSpPr/>
          <p:nvPr/>
        </p:nvSpPr>
        <p:spPr>
          <a:xfrm>
            <a:off x="1776847" y="622324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эталоны в литературе неоптимальны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3b9a9254b_0_748"/>
          <p:cNvSpPr/>
          <p:nvPr/>
        </p:nvSpPr>
        <p:spPr>
          <a:xfrm>
            <a:off x="1130178" y="7219880"/>
            <a:ext cx="3383400" cy="960000"/>
          </a:xfrm>
          <a:prstGeom prst="rect">
            <a:avLst/>
          </a:prstGeom>
          <a:solidFill>
            <a:srgbClr val="F5F3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3b9a9254b_0_748"/>
          <p:cNvSpPr/>
          <p:nvPr/>
        </p:nvSpPr>
        <p:spPr>
          <a:xfrm>
            <a:off x="1130178" y="7219880"/>
            <a:ext cx="73200" cy="9600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3b9a9254b_0_748"/>
          <p:cNvSpPr/>
          <p:nvPr/>
        </p:nvSpPr>
        <p:spPr>
          <a:xfrm>
            <a:off x="1359250" y="7287600"/>
            <a:ext cx="2991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300"/>
              <a:buFont typeface="Golos Text"/>
              <a:buNone/>
            </a:pPr>
            <a:r>
              <a:rPr b="1" lang="ru-RU" sz="1300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Из литературы</a:t>
            </a:r>
            <a:r>
              <a:rPr b="1" i="0" lang="ru-RU" sz="13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: </a:t>
            </a:r>
            <a:r>
              <a:rPr b="0" i="1" lang="ru-RU" sz="13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85% энергии конвейера — захват + </a:t>
            </a:r>
            <a:r>
              <a:rPr i="1" lang="ru-RU" sz="1300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извлечение признаков</a:t>
            </a:r>
            <a:r>
              <a:rPr b="0" i="1" lang="ru-RU" sz="13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, не инференс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3b9a9254b_0_748"/>
          <p:cNvSpPr/>
          <p:nvPr/>
        </p:nvSpPr>
        <p:spPr>
          <a:xfrm>
            <a:off x="4846442" y="1783075"/>
            <a:ext cx="9140400" cy="6697800"/>
          </a:xfrm>
          <a:prstGeom prst="roundRect">
            <a:avLst>
              <a:gd fmla="val 119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3b9a9254b_0_748"/>
          <p:cNvSpPr/>
          <p:nvPr/>
        </p:nvSpPr>
        <p:spPr>
          <a:xfrm>
            <a:off x="4926746" y="1783025"/>
            <a:ext cx="8988600" cy="639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3b9a9254b_0_748"/>
          <p:cNvSpPr/>
          <p:nvPr/>
        </p:nvSpPr>
        <p:spPr>
          <a:xfrm>
            <a:off x="5093136" y="1979673"/>
            <a:ext cx="775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Golos Text"/>
              <a:buNone/>
            </a:pPr>
            <a:r>
              <a:rPr i="0" lang="ru-RU" sz="16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ПРОАНАЛИЗИРОВАНО · ВЫБОР ПЛАТФОРМЫ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3b9a9254b_0_748"/>
          <p:cNvSpPr/>
          <p:nvPr/>
        </p:nvSpPr>
        <p:spPr>
          <a:xfrm>
            <a:off x="7507103" y="2661381"/>
            <a:ext cx="3657600" cy="567000"/>
          </a:xfrm>
          <a:prstGeom prst="roundRect">
            <a:avLst>
              <a:gd fmla="val 12903" name="adj"/>
            </a:avLst>
          </a:prstGeom>
          <a:solidFill>
            <a:srgbClr val="5B21B6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3b9a9254b_0_748"/>
          <p:cNvSpPr/>
          <p:nvPr/>
        </p:nvSpPr>
        <p:spPr>
          <a:xfrm>
            <a:off x="7507104" y="2661395"/>
            <a:ext cx="365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los Text"/>
              <a:buNone/>
            </a:pPr>
            <a:r>
              <a:rPr b="1" i="0" lang="ru-RU" sz="15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Распознавание ключевых слов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3b9a9254b_0_748"/>
          <p:cNvSpPr/>
          <p:nvPr/>
        </p:nvSpPr>
        <p:spPr>
          <a:xfrm>
            <a:off x="5824634" y="3751426"/>
            <a:ext cx="3200400" cy="914400"/>
          </a:xfrm>
          <a:prstGeom prst="roundRect">
            <a:avLst>
              <a:gd fmla="val 8000" name="adj"/>
            </a:avLst>
          </a:prstGeom>
          <a:solidFill>
            <a:srgbClr val="F3F4F6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3b9a9254b_0_748"/>
          <p:cNvSpPr/>
          <p:nvPr/>
        </p:nvSpPr>
        <p:spPr>
          <a:xfrm>
            <a:off x="5824634" y="3824578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Golos Text"/>
              <a:buNone/>
            </a:pPr>
            <a:r>
              <a:rPr b="1" lang="ru-RU" sz="1500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    </a:t>
            </a:r>
            <a:r>
              <a:rPr b="1" i="0" lang="ru-RU" sz="1500" u="none" cap="none" strike="noStrike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Облако  </a:t>
            </a:r>
            <a:r>
              <a:rPr b="1" i="0" lang="ru-RU" sz="1600" u="none" cap="none" strike="noStrike">
                <a:solidFill>
                  <a:srgbClr val="9CA3AF"/>
                </a:solidFill>
                <a:latin typeface="Golos Text"/>
                <a:ea typeface="Golos Text"/>
                <a:cs typeface="Golos Text"/>
                <a:sym typeface="Golos Text"/>
              </a:rPr>
              <a:t>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3b9a9254b_0_748"/>
          <p:cNvSpPr/>
          <p:nvPr/>
        </p:nvSpPr>
        <p:spPr>
          <a:xfrm>
            <a:off x="5916073" y="4208624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Golos Text"/>
              <a:buNone/>
            </a:pPr>
            <a:r>
              <a:rPr lang="ru-RU" sz="12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· </a:t>
            </a: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до 800 мВт пик Wi-Fi · </a:t>
            </a:r>
            <a:endParaRPr b="0" i="0" sz="120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Golos Text"/>
              <a:buNone/>
            </a:pPr>
            <a:r>
              <a:rPr lang="ru-RU" sz="12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· </a:t>
            </a: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латентность · приватность</a:t>
            </a:r>
            <a:r>
              <a:rPr lang="ru-RU" sz="12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·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3b9a9254b_0_748"/>
          <p:cNvSpPr/>
          <p:nvPr/>
        </p:nvSpPr>
        <p:spPr>
          <a:xfrm>
            <a:off x="9646765" y="3751426"/>
            <a:ext cx="320040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3b9a9254b_0_748"/>
          <p:cNvSpPr/>
          <p:nvPr/>
        </p:nvSpPr>
        <p:spPr>
          <a:xfrm>
            <a:off x="9646765" y="3824578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Golos Text"/>
              <a:buNone/>
            </a:pPr>
            <a:r>
              <a:rPr b="1" i="0" lang="ru-RU" sz="1500" u="none" cap="none" strike="noStrike">
                <a:solidFill>
                  <a:srgbClr val="166534"/>
                </a:solidFill>
                <a:latin typeface="Golos Text"/>
                <a:ea typeface="Golos Text"/>
                <a:cs typeface="Golos Text"/>
                <a:sym typeface="Golos Text"/>
              </a:rPr>
              <a:t>На устройстве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3b9a9254b_0_748"/>
          <p:cNvSpPr/>
          <p:nvPr/>
        </p:nvSpPr>
        <p:spPr>
          <a:xfrm>
            <a:off x="9744116" y="4162537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Golos Text"/>
              <a:buNone/>
            </a:pP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локальный инференс </a:t>
            </a:r>
            <a:endParaRPr b="0" i="0" sz="120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Golos Text"/>
              <a:buNone/>
            </a:pP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на периферии сети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g3e3b9a9254b_0_748"/>
          <p:cNvCxnSpPr>
            <a:stCxn id="245" idx="2"/>
          </p:cNvCxnSpPr>
          <p:nvPr/>
        </p:nvCxnSpPr>
        <p:spPr>
          <a:xfrm>
            <a:off x="9335904" y="3228395"/>
            <a:ext cx="0" cy="24750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g3e3b9a9254b_0_748"/>
          <p:cNvCxnSpPr/>
          <p:nvPr/>
        </p:nvCxnSpPr>
        <p:spPr>
          <a:xfrm flipH="1" rot="10800000">
            <a:off x="9322025" y="3475147"/>
            <a:ext cx="1940400" cy="330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g3e3b9a9254b_0_748"/>
          <p:cNvCxnSpPr/>
          <p:nvPr/>
        </p:nvCxnSpPr>
        <p:spPr>
          <a:xfrm>
            <a:off x="7424346" y="3478756"/>
            <a:ext cx="900" cy="27150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g3e3b9a9254b_0_748"/>
          <p:cNvCxnSpPr>
            <a:stCxn id="249" idx="2"/>
          </p:cNvCxnSpPr>
          <p:nvPr/>
        </p:nvCxnSpPr>
        <p:spPr>
          <a:xfrm>
            <a:off x="11246965" y="4665826"/>
            <a:ext cx="0" cy="39720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g3e3b9a9254b_0_748"/>
          <p:cNvCxnSpPr/>
          <p:nvPr/>
        </p:nvCxnSpPr>
        <p:spPr>
          <a:xfrm>
            <a:off x="11234469" y="5058676"/>
            <a:ext cx="1486800" cy="360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g3e3b9a9254b_0_748"/>
          <p:cNvSpPr/>
          <p:nvPr/>
        </p:nvSpPr>
        <p:spPr>
          <a:xfrm>
            <a:off x="5080182" y="5428601"/>
            <a:ext cx="2043900" cy="1371600"/>
          </a:xfrm>
          <a:prstGeom prst="roundRect">
            <a:avLst>
              <a:gd fmla="val 5333" name="adj"/>
            </a:avLst>
          </a:prstGeom>
          <a:solidFill>
            <a:srgbClr val="F3F4F6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3b9a9254b_0_748"/>
          <p:cNvSpPr/>
          <p:nvPr/>
        </p:nvSpPr>
        <p:spPr>
          <a:xfrm>
            <a:off x="5080182" y="5538329"/>
            <a:ext cx="20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Golos Text"/>
              <a:buNone/>
            </a:pPr>
            <a:r>
              <a:rPr b="1" lang="ru-RU" sz="2000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  </a:t>
            </a:r>
            <a:r>
              <a:rPr b="1" i="0" lang="ru-RU" sz="2000" u="none" cap="none" strike="noStrike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ASIC  </a:t>
            </a:r>
            <a:r>
              <a:rPr b="1" i="0" lang="ru-RU" sz="1900" u="none" cap="none" strike="noStrike">
                <a:solidFill>
                  <a:srgbClr val="9CA3AF"/>
                </a:solidFill>
                <a:latin typeface="Golos Text"/>
                <a:ea typeface="Golos Text"/>
                <a:cs typeface="Golos Text"/>
                <a:sym typeface="Golos Text"/>
              </a:rPr>
              <a:t>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3b9a9254b_0_748"/>
          <p:cNvSpPr/>
          <p:nvPr/>
        </p:nvSpPr>
        <p:spPr>
          <a:xfrm>
            <a:off x="5207916" y="6114600"/>
            <a:ext cx="178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i="1" lang="ru-RU" sz="12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закрытая архитектура · модель неизменна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g3e3b9a9254b_0_748"/>
          <p:cNvCxnSpPr/>
          <p:nvPr/>
        </p:nvCxnSpPr>
        <p:spPr>
          <a:xfrm>
            <a:off x="6058608" y="5062836"/>
            <a:ext cx="0" cy="36570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g3e3b9a9254b_0_748"/>
          <p:cNvSpPr/>
          <p:nvPr/>
        </p:nvSpPr>
        <p:spPr>
          <a:xfrm>
            <a:off x="7274722" y="5428601"/>
            <a:ext cx="2043900" cy="1371600"/>
          </a:xfrm>
          <a:prstGeom prst="roundRect">
            <a:avLst>
              <a:gd fmla="val 5333" name="adj"/>
            </a:avLst>
          </a:prstGeom>
          <a:solidFill>
            <a:srgbClr val="F3F4F6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3b9a9254b_0_748"/>
          <p:cNvSpPr/>
          <p:nvPr/>
        </p:nvSpPr>
        <p:spPr>
          <a:xfrm>
            <a:off x="7274722" y="5538329"/>
            <a:ext cx="20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Golos Text"/>
              <a:buNone/>
            </a:pPr>
            <a:r>
              <a:rPr b="1" lang="ru-RU" sz="2000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   </a:t>
            </a:r>
            <a:r>
              <a:rPr b="1" i="0" lang="ru-RU" sz="2000" u="none" cap="none" strike="noStrike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ПЛИС  </a:t>
            </a:r>
            <a:r>
              <a:rPr b="1" i="0" lang="ru-RU" sz="1900" u="none" cap="none" strike="noStrike">
                <a:solidFill>
                  <a:srgbClr val="9CA3AF"/>
                </a:solidFill>
                <a:latin typeface="Golos Text"/>
                <a:ea typeface="Golos Text"/>
                <a:cs typeface="Golos Text"/>
                <a:sym typeface="Golos Text"/>
              </a:rPr>
              <a:t>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3b9a9254b_0_748"/>
          <p:cNvSpPr/>
          <p:nvPr/>
        </p:nvSpPr>
        <p:spPr>
          <a:xfrm>
            <a:off x="7402456" y="6114600"/>
            <a:ext cx="178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i="1" lang="ru-RU" sz="12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· HDL-разработка · </a:t>
            </a:r>
            <a:endParaRPr b="0" i="1" sz="120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i="1" lang="ru-RU" sz="12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· долгие итерации ·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g3e3b9a9254b_0_748"/>
          <p:cNvCxnSpPr/>
          <p:nvPr/>
        </p:nvCxnSpPr>
        <p:spPr>
          <a:xfrm>
            <a:off x="8319857" y="5062836"/>
            <a:ext cx="0" cy="36570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g3e3b9a9254b_0_748"/>
          <p:cNvSpPr/>
          <p:nvPr/>
        </p:nvSpPr>
        <p:spPr>
          <a:xfrm>
            <a:off x="9469262" y="5433876"/>
            <a:ext cx="2043900" cy="1371600"/>
          </a:xfrm>
          <a:prstGeom prst="roundRect">
            <a:avLst>
              <a:gd fmla="val 5333" name="adj"/>
            </a:avLst>
          </a:prstGeom>
          <a:solidFill>
            <a:srgbClr val="F3F4F6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3b9a9254b_0_748"/>
          <p:cNvSpPr/>
          <p:nvPr/>
        </p:nvSpPr>
        <p:spPr>
          <a:xfrm>
            <a:off x="9469262" y="5543604"/>
            <a:ext cx="20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Golos Text"/>
              <a:buNone/>
            </a:pPr>
            <a:r>
              <a:rPr b="1" lang="ru-RU" sz="2000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   </a:t>
            </a:r>
            <a:r>
              <a:rPr b="1" i="0" lang="ru-RU" sz="2000" u="none" cap="none" strike="noStrike">
                <a:solidFill>
                  <a:srgbClr val="4B5563"/>
                </a:solidFill>
                <a:latin typeface="Golos Text"/>
                <a:ea typeface="Golos Text"/>
                <a:cs typeface="Golos Text"/>
                <a:sym typeface="Golos Text"/>
              </a:rPr>
              <a:t>DSP  </a:t>
            </a:r>
            <a:r>
              <a:rPr b="1" i="0" lang="ru-RU" sz="1900" u="none" cap="none" strike="noStrike">
                <a:solidFill>
                  <a:srgbClr val="9CA3AF"/>
                </a:solidFill>
                <a:latin typeface="Golos Text"/>
                <a:ea typeface="Golos Text"/>
                <a:cs typeface="Golos Text"/>
                <a:sym typeface="Golos Text"/>
              </a:rPr>
              <a:t>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3b9a9254b_0_748"/>
          <p:cNvSpPr/>
          <p:nvPr/>
        </p:nvSpPr>
        <p:spPr>
          <a:xfrm>
            <a:off x="9596996" y="6119875"/>
            <a:ext cx="1788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1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избыточен · функции уже в современных МК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g3e3b9a9254b_0_748"/>
          <p:cNvCxnSpPr/>
          <p:nvPr/>
        </p:nvCxnSpPr>
        <p:spPr>
          <a:xfrm>
            <a:off x="10471740" y="5062836"/>
            <a:ext cx="0" cy="36570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g3e3b9a9254b_0_748"/>
          <p:cNvSpPr/>
          <p:nvPr/>
        </p:nvSpPr>
        <p:spPr>
          <a:xfrm>
            <a:off x="11663793" y="5405176"/>
            <a:ext cx="2043900" cy="1371600"/>
          </a:xfrm>
          <a:prstGeom prst="roundRect">
            <a:avLst>
              <a:gd fmla="val 5333" name="adj"/>
            </a:avLst>
          </a:prstGeom>
          <a:solidFill>
            <a:srgbClr val="F5F3FF"/>
          </a:solidFill>
          <a:ln cap="flat" cmpd="sng" w="317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3b9a9254b_0_748"/>
          <p:cNvSpPr/>
          <p:nvPr/>
        </p:nvSpPr>
        <p:spPr>
          <a:xfrm>
            <a:off x="11663793" y="5514904"/>
            <a:ext cx="20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2000"/>
              <a:buFont typeface="Golos Text"/>
              <a:buNone/>
            </a:pPr>
            <a:r>
              <a:rPr b="1" lang="ru-RU" sz="2000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    </a:t>
            </a:r>
            <a:r>
              <a:rPr b="1" i="0" lang="ru-RU" sz="20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МК  </a:t>
            </a:r>
            <a:r>
              <a:rPr b="1" i="0" lang="ru-RU" sz="1900" u="none" cap="none" strike="noStrike">
                <a:solidFill>
                  <a:srgbClr val="16A34A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e3b9a9254b_0_748"/>
          <p:cNvSpPr/>
          <p:nvPr/>
        </p:nvSpPr>
        <p:spPr>
          <a:xfrm>
            <a:off x="11791534" y="6026968"/>
            <a:ext cx="1788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Golos Text"/>
              <a:buNone/>
            </a:pP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встроенная периферия · быстрое </a:t>
            </a:r>
            <a:r>
              <a:rPr i="1" lang="ru-RU" sz="1200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· </a:t>
            </a: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прототипирование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g3e3b9a9254b_0_748"/>
          <p:cNvCxnSpPr/>
          <p:nvPr/>
        </p:nvCxnSpPr>
        <p:spPr>
          <a:xfrm>
            <a:off x="12705626" y="5049885"/>
            <a:ext cx="0" cy="365700"/>
          </a:xfrm>
          <a:prstGeom prst="straightConnector1">
            <a:avLst/>
          </a:prstGeom>
          <a:noFill/>
          <a:ln cap="flat" cmpd="sng" w="31750">
            <a:solidFill>
              <a:srgbClr val="7C3A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g3e3b9a9254b_0_748"/>
          <p:cNvSpPr/>
          <p:nvPr/>
        </p:nvSpPr>
        <p:spPr>
          <a:xfrm>
            <a:off x="5233727" y="7219876"/>
            <a:ext cx="8365800" cy="960000"/>
          </a:xfrm>
          <a:prstGeom prst="roundRect">
            <a:avLst>
              <a:gd fmla="val 10526" name="adj"/>
            </a:avLst>
          </a:prstGeom>
          <a:solidFill>
            <a:srgbClr val="5B21B6"/>
          </a:solidFill>
          <a:ln cap="flat" cmpd="sng" w="140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025" lIns="101025" spcFirstLastPara="1" rIns="101025" wrap="square" tIns="10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3b9a9254b_0_748"/>
          <p:cNvSpPr/>
          <p:nvPr/>
        </p:nvSpPr>
        <p:spPr>
          <a:xfrm>
            <a:off x="5233716" y="7232175"/>
            <a:ext cx="836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68"/>
              <a:buFont typeface="Golos Text"/>
              <a:buNone/>
            </a:pPr>
            <a:r>
              <a:rPr b="1" i="0" lang="ru-RU" sz="22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Выбор:</a:t>
            </a:r>
            <a:r>
              <a:rPr b="1" i="0" lang="ru-RU" sz="2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М</a:t>
            </a:r>
            <a:r>
              <a:rPr b="1" lang="ru-RU" sz="22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икроконтроллер</a:t>
            </a:r>
            <a:r>
              <a:rPr b="1" i="0" lang="ru-RU" sz="2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общего назначения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e3b9a9254b_0_748"/>
          <p:cNvSpPr/>
          <p:nvPr/>
        </p:nvSpPr>
        <p:spPr>
          <a:xfrm>
            <a:off x="14114798" y="1783079"/>
            <a:ext cx="3931800" cy="669780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3b9a9254b_0_748"/>
          <p:cNvSpPr/>
          <p:nvPr/>
        </p:nvSpPr>
        <p:spPr>
          <a:xfrm>
            <a:off x="14187942" y="1783080"/>
            <a:ext cx="3785700" cy="639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3b9a9254b_0_748"/>
          <p:cNvSpPr/>
          <p:nvPr/>
        </p:nvSpPr>
        <p:spPr>
          <a:xfrm>
            <a:off x="14389107" y="1984248"/>
            <a:ext cx="338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Golos Text"/>
              <a:buNone/>
            </a:pPr>
            <a:r>
              <a:rPr i="0" lang="ru-RU" sz="16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СФОРМУЛИРОВАНО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e3b9a9254b_0_748"/>
          <p:cNvSpPr/>
          <p:nvPr/>
        </p:nvSpPr>
        <p:spPr>
          <a:xfrm>
            <a:off x="14389107" y="2286000"/>
            <a:ext cx="338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i="0" lang="ru-RU" sz="17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Требования к решению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e3b9a9254b_0_748"/>
          <p:cNvSpPr/>
          <p:nvPr/>
        </p:nvSpPr>
        <p:spPr>
          <a:xfrm>
            <a:off x="14389107" y="3383280"/>
            <a:ext cx="502800" cy="5028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3b9a9254b_0_748"/>
          <p:cNvSpPr/>
          <p:nvPr/>
        </p:nvSpPr>
        <p:spPr>
          <a:xfrm>
            <a:off x="14389107" y="338328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olos Text"/>
              <a:buNone/>
            </a:pPr>
            <a:r>
              <a:rPr b="1" i="0" lang="ru-RU" sz="17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3b9a9254b_0_748"/>
          <p:cNvSpPr/>
          <p:nvPr/>
        </p:nvSpPr>
        <p:spPr>
          <a:xfrm>
            <a:off x="14988634" y="3305600"/>
            <a:ext cx="2783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Снижение средней мощности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3b9a9254b_0_748"/>
          <p:cNvSpPr/>
          <p:nvPr/>
        </p:nvSpPr>
        <p:spPr>
          <a:xfrm>
            <a:off x="15008877" y="3763893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кратно ниже </a:t>
            </a:r>
            <a:endParaRPr b="0" i="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непрерывного инференса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3b9a9254b_0_748"/>
          <p:cNvSpPr/>
          <p:nvPr/>
        </p:nvSpPr>
        <p:spPr>
          <a:xfrm>
            <a:off x="14389107" y="4709160"/>
            <a:ext cx="502800" cy="5028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3b9a9254b_0_748"/>
          <p:cNvSpPr/>
          <p:nvPr/>
        </p:nvSpPr>
        <p:spPr>
          <a:xfrm>
            <a:off x="14389107" y="47091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olos Text"/>
              <a:buNone/>
            </a:pPr>
            <a:r>
              <a:rPr b="1" i="0" lang="ru-RU" sz="17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e3b9a9254b_0_748"/>
          <p:cNvSpPr/>
          <p:nvPr/>
        </p:nvSpPr>
        <p:spPr>
          <a:xfrm>
            <a:off x="15029177" y="466344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Точность ≥ 90% при компактной модели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3b9a9254b_0_748"/>
          <p:cNvSpPr/>
          <p:nvPr/>
        </p:nvSpPr>
        <p:spPr>
          <a:xfrm>
            <a:off x="15029177" y="5166360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MLPerf Tiny:</a:t>
            </a:r>
            <a:endParaRPr b="0" i="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потеря FP32 → INT8 ≤ 1</a:t>
            </a: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3b9a9254b_0_748"/>
          <p:cNvSpPr/>
          <p:nvPr/>
        </p:nvSpPr>
        <p:spPr>
          <a:xfrm>
            <a:off x="14389107" y="6035038"/>
            <a:ext cx="502800" cy="5028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3b9a9254b_0_748"/>
          <p:cNvSpPr/>
          <p:nvPr/>
        </p:nvSpPr>
        <p:spPr>
          <a:xfrm>
            <a:off x="14389107" y="603503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olos Text"/>
              <a:buNone/>
            </a:pPr>
            <a:r>
              <a:rPr b="1" i="0" lang="ru-RU" sz="17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3b9a9254b_0_748"/>
          <p:cNvSpPr/>
          <p:nvPr/>
        </p:nvSpPr>
        <p:spPr>
          <a:xfrm>
            <a:off x="15029177" y="598932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Латентность отклика — секунды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3b9a9254b_0_748"/>
          <p:cNvSpPr/>
          <p:nvPr/>
        </p:nvSpPr>
        <p:spPr>
          <a:xfrm>
            <a:off x="15029183" y="6521863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интерактивный </a:t>
            </a:r>
            <a:endParaRPr b="0" i="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голосовой UX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3b9a9254b_0_748"/>
          <p:cNvSpPr/>
          <p:nvPr/>
        </p:nvSpPr>
        <p:spPr>
          <a:xfrm>
            <a:off x="14389107" y="7360920"/>
            <a:ext cx="502800" cy="5028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3b9a9254b_0_748"/>
          <p:cNvSpPr/>
          <p:nvPr/>
        </p:nvSpPr>
        <p:spPr>
          <a:xfrm>
            <a:off x="14389107" y="736092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olos Text"/>
              <a:buNone/>
            </a:pPr>
            <a:r>
              <a:rPr b="1" i="0" lang="ru-RU" sz="17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e3b9a9254b_0_748"/>
          <p:cNvSpPr/>
          <p:nvPr/>
        </p:nvSpPr>
        <p:spPr>
          <a:xfrm>
            <a:off x="15029177" y="731520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5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Открытость и переносимость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3b9a9254b_0_748"/>
          <p:cNvSpPr/>
          <p:nvPr/>
        </p:nvSpPr>
        <p:spPr>
          <a:xfrm>
            <a:off x="15029177" y="7772370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открытый стек </a:t>
            </a:r>
            <a:endParaRPr b="0" i="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lang="ru-RU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любой МК с deep sleep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g3e3b9a9254b_0_748"/>
          <p:cNvCxnSpPr/>
          <p:nvPr/>
        </p:nvCxnSpPr>
        <p:spPr>
          <a:xfrm>
            <a:off x="7414906" y="3476947"/>
            <a:ext cx="1908000" cy="1800"/>
          </a:xfrm>
          <a:prstGeom prst="straightConnector1">
            <a:avLst/>
          </a:prstGeom>
          <a:noFill/>
          <a:ln cap="flat" cmpd="sng" w="254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g3e3b9a9254b_0_748"/>
          <p:cNvCxnSpPr/>
          <p:nvPr/>
        </p:nvCxnSpPr>
        <p:spPr>
          <a:xfrm>
            <a:off x="11252385" y="3479194"/>
            <a:ext cx="900" cy="2715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g3e3b9a9254b_0_748"/>
          <p:cNvSpPr txBox="1"/>
          <p:nvPr/>
        </p:nvSpPr>
        <p:spPr>
          <a:xfrm>
            <a:off x="11826685" y="3778831"/>
            <a:ext cx="62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6A34A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cxnSp>
        <p:nvCxnSpPr>
          <p:cNvPr id="298" name="Google Shape;298;g3e3b9a9254b_0_748"/>
          <p:cNvCxnSpPr/>
          <p:nvPr/>
        </p:nvCxnSpPr>
        <p:spPr>
          <a:xfrm flipH="1" rot="10800000">
            <a:off x="6049478" y="5057501"/>
            <a:ext cx="5185500" cy="3900"/>
          </a:xfrm>
          <a:prstGeom prst="straightConnector1">
            <a:avLst/>
          </a:prstGeom>
          <a:noFill/>
          <a:ln cap="flat" cmpd="sng" w="254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g3e3b9a9254b_0_748"/>
          <p:cNvSpPr/>
          <p:nvPr/>
        </p:nvSpPr>
        <p:spPr>
          <a:xfrm>
            <a:off x="932685" y="8647565"/>
            <a:ext cx="17113800" cy="960000"/>
          </a:xfrm>
          <a:prstGeom prst="roundRect">
            <a:avLst>
              <a:gd fmla="val 11111" name="adj"/>
            </a:avLst>
          </a:prstGeom>
          <a:solidFill>
            <a:srgbClr val="F5F3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3b9a9254b_0_748"/>
          <p:cNvSpPr/>
          <p:nvPr/>
        </p:nvSpPr>
        <p:spPr>
          <a:xfrm>
            <a:off x="932685" y="8647565"/>
            <a:ext cx="111300" cy="9600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3b9a9254b_0_748"/>
          <p:cNvSpPr/>
          <p:nvPr/>
        </p:nvSpPr>
        <p:spPr>
          <a:xfrm>
            <a:off x="1303544" y="8647565"/>
            <a:ext cx="16299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Golos Text"/>
              <a:buNone/>
            </a:pP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Разрыв в энергоэффективности с ASIC компенсируется </a:t>
            </a:r>
            <a:r>
              <a:rPr b="1" i="0" lang="ru-RU" sz="16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каскадной архитектурой</a:t>
            </a: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 и </a:t>
            </a:r>
            <a:r>
              <a:rPr b="1" i="0" lang="ru-RU" sz="16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квантизацией модели</a:t>
            </a: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. </a:t>
            </a:r>
            <a:r>
              <a:rPr b="1" i="0" lang="ru-RU" sz="1600" u="sng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→ </a:t>
            </a:r>
            <a:r>
              <a:rPr b="1" lang="ru-RU" sz="1600" u="sng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Задачи</a:t>
            </a:r>
            <a:r>
              <a:rPr b="1" i="0" lang="ru-RU" sz="1600" u="sng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 2-3</a:t>
            </a:r>
            <a:endParaRPr b="1" i="0" sz="1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3b9a9254b_0_386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Задача 2. Каскадная архитектура</a:t>
            </a:r>
            <a:endParaRPr sz="6489"/>
          </a:p>
        </p:txBody>
      </p:sp>
      <p:sp>
        <p:nvSpPr>
          <p:cNvPr id="308" name="Google Shape;308;g3e3b9a9254b_0_386"/>
          <p:cNvSpPr txBox="1"/>
          <p:nvPr/>
        </p:nvSpPr>
        <p:spPr>
          <a:xfrm>
            <a:off x="17634850" y="9611400"/>
            <a:ext cx="10341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6/15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09" name="Google Shape;309;g3e3b9a9254b_0_386" title="vad_conce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25" y="1590855"/>
            <a:ext cx="17622461" cy="8157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e3b9a9254b_0_3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350" y="8143500"/>
            <a:ext cx="17147783" cy="3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e3b9a9254b_0_3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375" y="7924258"/>
            <a:ext cx="17249200" cy="10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e3b9a9254b_0_3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375" y="8936175"/>
            <a:ext cx="17249201" cy="7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e3b9a9254b_0_386"/>
          <p:cNvSpPr txBox="1"/>
          <p:nvPr/>
        </p:nvSpPr>
        <p:spPr>
          <a:xfrm>
            <a:off x="1956211" y="9511125"/>
            <a:ext cx="14985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1" lang="ru-RU" sz="2433" u="none" cap="none" strike="noStrike">
                <a:solidFill>
                  <a:schemeClr val="accent5"/>
                </a:solidFill>
                <a:latin typeface="Golos Text"/>
                <a:ea typeface="Golos Text"/>
                <a:cs typeface="Golos Text"/>
                <a:sym typeface="Golos Text"/>
              </a:rPr>
              <a:t>Каскадная архитектура: каждый этап активируется только при необходимости</a:t>
            </a:r>
            <a:endParaRPr b="0" i="1" sz="2433" u="none" cap="none" strike="noStrike">
              <a:solidFill>
                <a:schemeClr val="accent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14" name="Google Shape;314;g3e3b9a9254b_0_386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3b9a9254b_0_188"/>
          <p:cNvSpPr txBox="1"/>
          <p:nvPr/>
        </p:nvSpPr>
        <p:spPr>
          <a:xfrm>
            <a:off x="17619695" y="9611400"/>
            <a:ext cx="10491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7/15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21" name="Google Shape;321;g3e3b9a9254b_0_188" title="heatmap_filters_blocks.png"/>
          <p:cNvPicPr preferRelativeResize="0"/>
          <p:nvPr/>
        </p:nvPicPr>
        <p:blipFill rotWithShape="1">
          <a:blip r:embed="rId3">
            <a:alphaModFix/>
          </a:blip>
          <a:srcRect b="0" l="1083" r="1308" t="0"/>
          <a:stretch/>
        </p:blipFill>
        <p:spPr>
          <a:xfrm>
            <a:off x="12592345" y="2231650"/>
            <a:ext cx="6053549" cy="6914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e3b9a9254b_0_188" title="pareto_frontier_size_acc.png"/>
          <p:cNvPicPr preferRelativeResize="0"/>
          <p:nvPr/>
        </p:nvPicPr>
        <p:blipFill rotWithShape="1">
          <a:blip r:embed="rId4">
            <a:alphaModFix/>
          </a:blip>
          <a:srcRect b="0" l="727" r="1032" t="0"/>
          <a:stretch/>
        </p:blipFill>
        <p:spPr>
          <a:xfrm>
            <a:off x="57772" y="1791352"/>
            <a:ext cx="12534574" cy="839134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e3b9a9254b_0_188"/>
          <p:cNvSpPr txBox="1"/>
          <p:nvPr>
            <p:ph type="title"/>
          </p:nvPr>
        </p:nvSpPr>
        <p:spPr>
          <a:xfrm>
            <a:off x="595425" y="536050"/>
            <a:ext cx="141189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Задача 3. Подбор архитектуры классификатора</a:t>
            </a:r>
            <a:endParaRPr sz="648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3b9a9254b_0_196"/>
          <p:cNvSpPr txBox="1"/>
          <p:nvPr>
            <p:ph type="title"/>
          </p:nvPr>
        </p:nvSpPr>
        <p:spPr>
          <a:xfrm>
            <a:off x="685625" y="511200"/>
            <a:ext cx="137238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9"/>
              <a:buNone/>
            </a:pPr>
            <a:r>
              <a:rPr lang="ru-RU" sz="5440"/>
              <a:t>Задача 3. Квантизация: PTQ или QAT?</a:t>
            </a:r>
            <a:endParaRPr sz="5440"/>
          </a:p>
        </p:txBody>
      </p:sp>
      <p:sp>
        <p:nvSpPr>
          <p:cNvPr id="330" name="Google Shape;330;g3e3b9a9254b_0_196"/>
          <p:cNvSpPr txBox="1"/>
          <p:nvPr/>
        </p:nvSpPr>
        <p:spPr>
          <a:xfrm>
            <a:off x="17619699" y="9611400"/>
            <a:ext cx="10494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8/15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31" name="Google Shape;331;g3e3b9a9254b_0_196" title="ptq_vs_q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075" y="1738525"/>
            <a:ext cx="9292698" cy="837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e3b9a9254b_0_196"/>
          <p:cNvSpPr/>
          <p:nvPr/>
        </p:nvSpPr>
        <p:spPr>
          <a:xfrm>
            <a:off x="11294745" y="2669319"/>
            <a:ext cx="653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2000"/>
              <a:buFont typeface="Calibri"/>
              <a:buNone/>
            </a:pPr>
            <a:r>
              <a:rPr i="0" lang="ru-RU" sz="2800" u="none" cap="none" strike="noStrike">
                <a:solidFill>
                  <a:srgbClr val="5A189A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ВЫВОДЫ</a:t>
            </a:r>
            <a:endParaRPr i="0" sz="28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33" name="Google Shape;333;g3e3b9a9254b_0_196"/>
          <p:cNvSpPr/>
          <p:nvPr/>
        </p:nvSpPr>
        <p:spPr>
          <a:xfrm>
            <a:off x="11294745" y="3635502"/>
            <a:ext cx="783900" cy="768000"/>
          </a:xfrm>
          <a:prstGeom prst="roundRect">
            <a:avLst>
              <a:gd fmla="val 11905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g3e3b9a9254b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435" y="381838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e3b9a9254b_0_196"/>
          <p:cNvSpPr/>
          <p:nvPr/>
        </p:nvSpPr>
        <p:spPr>
          <a:xfrm>
            <a:off x="12414885" y="3185160"/>
            <a:ext cx="53766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600"/>
              <a:buFont typeface="Calibri"/>
              <a:buNone/>
            </a:pPr>
            <a:r>
              <a:rPr b="1" i="0" lang="ru-RU" sz="26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PTQ ≈ QAT для INT8</a:t>
            </a:r>
            <a:endParaRPr b="1"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6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медиана разности +0,05 п.п., </a:t>
            </a:r>
            <a:endParaRPr i="0" sz="2600" u="none" cap="none" strike="noStrike">
              <a:solidFill>
                <a:srgbClr val="6B6B6B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6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98% моделей в коридоре ±0,65</a:t>
            </a:r>
            <a:endParaRPr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6" name="Google Shape;336;g3e3b9a9254b_0_196"/>
          <p:cNvSpPr/>
          <p:nvPr/>
        </p:nvSpPr>
        <p:spPr>
          <a:xfrm>
            <a:off x="11313533" y="5438095"/>
            <a:ext cx="783900" cy="768000"/>
          </a:xfrm>
          <a:prstGeom prst="roundRect">
            <a:avLst>
              <a:gd fmla="val 11905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g3e3b9a9254b_0_1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0223" y="5620975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e3b9a9254b_0_196"/>
          <p:cNvSpPr/>
          <p:nvPr/>
        </p:nvSpPr>
        <p:spPr>
          <a:xfrm>
            <a:off x="12433673" y="4987753"/>
            <a:ext cx="53766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600"/>
              <a:buFont typeface="Calibri"/>
              <a:buNone/>
            </a:pPr>
            <a:r>
              <a:rPr b="1" i="0" lang="ru-RU" sz="26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Потеря &lt; 1 </a:t>
            </a:r>
            <a:r>
              <a:rPr b="1" lang="ru-RU" sz="2600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%</a:t>
            </a:r>
            <a:endParaRPr b="1"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6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оба метода укладываются в требование C3 относительно FP32</a:t>
            </a:r>
            <a:endParaRPr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9" name="Google Shape;339;g3e3b9a9254b_0_196"/>
          <p:cNvSpPr/>
          <p:nvPr/>
        </p:nvSpPr>
        <p:spPr>
          <a:xfrm>
            <a:off x="11313533" y="7423398"/>
            <a:ext cx="783900" cy="768000"/>
          </a:xfrm>
          <a:prstGeom prst="roundRect">
            <a:avLst>
              <a:gd fmla="val 11905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g3e3b9a9254b_0_1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00223" y="760627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e3b9a9254b_0_196"/>
          <p:cNvSpPr/>
          <p:nvPr/>
        </p:nvSpPr>
        <p:spPr>
          <a:xfrm>
            <a:off x="12433673" y="6973056"/>
            <a:ext cx="53766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600"/>
              <a:buFont typeface="Calibri"/>
              <a:buNone/>
            </a:pPr>
            <a:r>
              <a:rPr b="1" i="0" lang="ru-RU" sz="26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Выбран PTQ</a:t>
            </a:r>
            <a:endParaRPr b="1"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6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при равной точности — выигрыш по времени развёртывания</a:t>
            </a:r>
            <a:endParaRPr i="0" sz="26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42" name="Google Shape;342;g3e3b9a9254b_0_196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3b9a9254b_0_211"/>
          <p:cNvSpPr txBox="1"/>
          <p:nvPr/>
        </p:nvSpPr>
        <p:spPr>
          <a:xfrm>
            <a:off x="17574250" y="9611400"/>
            <a:ext cx="10947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9/15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49" name="Google Shape;349;g3e3b9a9254b_0_211" title="pareto_energy_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725" y="1871018"/>
            <a:ext cx="10652002" cy="839134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e3b9a9254b_0_211"/>
          <p:cNvSpPr/>
          <p:nvPr/>
        </p:nvSpPr>
        <p:spPr>
          <a:xfrm>
            <a:off x="11655150" y="2135919"/>
            <a:ext cx="653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2000"/>
              <a:buFont typeface="Calibri"/>
              <a:buNone/>
            </a:pPr>
            <a:r>
              <a:rPr i="0" lang="ru-RU" sz="2800" u="none" cap="none" strike="noStrike">
                <a:solidFill>
                  <a:srgbClr val="5A189A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ВЫВОДЫ</a:t>
            </a:r>
            <a:endParaRPr i="0" sz="28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51" name="Google Shape;351;g3e3b9a9254b_0_211"/>
          <p:cNvSpPr/>
          <p:nvPr/>
        </p:nvSpPr>
        <p:spPr>
          <a:xfrm>
            <a:off x="11655150" y="3102102"/>
            <a:ext cx="783900" cy="768000"/>
          </a:xfrm>
          <a:prstGeom prst="roundRect">
            <a:avLst>
              <a:gd fmla="val 11905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g3e3b9a9254b_0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1840" y="328498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e3b9a9254b_0_211"/>
          <p:cNvSpPr/>
          <p:nvPr/>
        </p:nvSpPr>
        <p:spPr>
          <a:xfrm>
            <a:off x="12775290" y="2651760"/>
            <a:ext cx="53766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600"/>
              <a:buFont typeface="Calibri"/>
              <a:buNone/>
            </a:pPr>
            <a:r>
              <a:rPr b="1" i="0" lang="ru-RU" sz="25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Финальная: 104 × 5</a:t>
            </a:r>
            <a:endParaRPr b="1"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точность 96,12 % </a:t>
            </a:r>
            <a:endParaRPr i="0" sz="2500" u="none" cap="none" strike="noStrike">
              <a:solidFill>
                <a:srgbClr val="6B6B6B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при 149,6 мДж на один вывод</a:t>
            </a:r>
            <a:endParaRPr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4" name="Google Shape;354;g3e3b9a9254b_0_211"/>
          <p:cNvSpPr/>
          <p:nvPr/>
        </p:nvSpPr>
        <p:spPr>
          <a:xfrm>
            <a:off x="11655150" y="4770882"/>
            <a:ext cx="783900" cy="768000"/>
          </a:xfrm>
          <a:prstGeom prst="roundRect">
            <a:avLst>
              <a:gd fmla="val 11905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g3e3b9a9254b_0_2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41840" y="495376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e3b9a9254b_0_211"/>
          <p:cNvSpPr/>
          <p:nvPr/>
        </p:nvSpPr>
        <p:spPr>
          <a:xfrm>
            <a:off x="12775290" y="4320540"/>
            <a:ext cx="53766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600"/>
              <a:buFont typeface="Calibri"/>
              <a:buNone/>
            </a:pPr>
            <a:r>
              <a:rPr b="1" i="0" lang="ru-RU" sz="25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Альтернатива 176 × 7</a:t>
            </a:r>
            <a:endParaRPr b="1"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выше всего на 0,17 п.п., </a:t>
            </a:r>
            <a:endParaRPr i="0" sz="2500" u="none" cap="none" strike="noStrike">
              <a:solidFill>
                <a:srgbClr val="6B6B6B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но в 3 раза дороже по энергии</a:t>
            </a:r>
            <a:endParaRPr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7" name="Google Shape;357;g3e3b9a9254b_0_211"/>
          <p:cNvSpPr/>
          <p:nvPr/>
        </p:nvSpPr>
        <p:spPr>
          <a:xfrm>
            <a:off x="11655150" y="6439662"/>
            <a:ext cx="783900" cy="768000"/>
          </a:xfrm>
          <a:prstGeom prst="roundRect">
            <a:avLst>
              <a:gd fmla="val 11905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g3e3b9a9254b_0_2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41840" y="662254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e3b9a9254b_0_211"/>
          <p:cNvSpPr/>
          <p:nvPr/>
        </p:nvSpPr>
        <p:spPr>
          <a:xfrm>
            <a:off x="12775290" y="5989320"/>
            <a:ext cx="53766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600"/>
              <a:buFont typeface="Calibri"/>
              <a:buNone/>
            </a:pPr>
            <a:r>
              <a:rPr b="1" i="0" lang="ru-RU" sz="25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Колено по энергии</a:t>
            </a:r>
            <a:endParaRPr b="1"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после 150 мДж прирост точности экономически не оправдан</a:t>
            </a:r>
            <a:endParaRPr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60" name="Google Shape;360;g3e3b9a9254b_0_211"/>
          <p:cNvSpPr/>
          <p:nvPr/>
        </p:nvSpPr>
        <p:spPr>
          <a:xfrm>
            <a:off x="11655150" y="8108442"/>
            <a:ext cx="783900" cy="768000"/>
          </a:xfrm>
          <a:prstGeom prst="roundRect">
            <a:avLst>
              <a:gd fmla="val 11905" name="adj"/>
            </a:avLst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g3e3b9a9254b_0_2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41840" y="829132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e3b9a9254b_0_211"/>
          <p:cNvSpPr/>
          <p:nvPr/>
        </p:nvSpPr>
        <p:spPr>
          <a:xfrm>
            <a:off x="12775290" y="7658100"/>
            <a:ext cx="53766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600"/>
              <a:buFont typeface="Calibri"/>
              <a:buNone/>
            </a:pPr>
            <a:r>
              <a:rPr b="1" i="0" lang="ru-RU" sz="25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Критерии C1–C4 выполнены</a:t>
            </a:r>
            <a:endParaRPr b="1"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точность ≥ 90 %, </a:t>
            </a:r>
            <a:endParaRPr i="0" sz="2500" u="none" cap="none" strike="noStrike">
              <a:solidFill>
                <a:srgbClr val="6B6B6B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размер ≤ 128 КБ, потеря &lt; 1 п.п., </a:t>
            </a:r>
            <a:endParaRPr i="0" sz="2500" u="none" cap="none" strike="noStrike">
              <a:solidFill>
                <a:srgbClr val="6B6B6B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латентность &lt; 500 мс</a:t>
            </a:r>
            <a:endParaRPr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63" name="Google Shape;363;g3e3b9a9254b_0_211"/>
          <p:cNvSpPr txBox="1"/>
          <p:nvPr>
            <p:ph type="title"/>
          </p:nvPr>
        </p:nvSpPr>
        <p:spPr>
          <a:xfrm>
            <a:off x="840100" y="4845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Выбор финальной модели классификатора</a:t>
            </a:r>
            <a:endParaRPr sz="648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3b9a9254b_0_226"/>
          <p:cNvSpPr txBox="1"/>
          <p:nvPr/>
        </p:nvSpPr>
        <p:spPr>
          <a:xfrm>
            <a:off x="17473750" y="9611400"/>
            <a:ext cx="11949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10/15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70" name="Google Shape;370;g3e3b9a9254b_0_226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Задача 4. Лабораторный стенд</a:t>
            </a:r>
            <a:endParaRPr sz="6489"/>
          </a:p>
        </p:txBody>
      </p:sp>
      <p:pic>
        <p:nvPicPr>
          <p:cNvPr id="371" name="Google Shape;371;g3e3b9a9254b_0_226" title="vad_cascade_showcase (2) (online-video-cutter.com)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563" y="1772600"/>
            <a:ext cx="6169536" cy="7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e3b9a9254b_0_226"/>
          <p:cNvSpPr/>
          <p:nvPr/>
        </p:nvSpPr>
        <p:spPr>
          <a:xfrm>
            <a:off x="1309984" y="9611390"/>
            <a:ext cx="5600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Golos Text"/>
              <a:buNone/>
            </a:pPr>
            <a:r>
              <a:rPr b="0" i="1" lang="ru-RU" sz="18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Видео работы устройства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3b9a9254b_0_226"/>
          <p:cNvSpPr/>
          <p:nvPr/>
        </p:nvSpPr>
        <p:spPr>
          <a:xfrm>
            <a:off x="7327200" y="1772595"/>
            <a:ext cx="10515600" cy="128010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F5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e3b9a9254b_0_226"/>
          <p:cNvSpPr/>
          <p:nvPr/>
        </p:nvSpPr>
        <p:spPr>
          <a:xfrm>
            <a:off x="7327200" y="1772595"/>
            <a:ext cx="128100" cy="12801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3b9a9254b_0_226"/>
          <p:cNvSpPr/>
          <p:nvPr/>
        </p:nvSpPr>
        <p:spPr>
          <a:xfrm>
            <a:off x="7619808" y="1909755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Golos Text"/>
              <a:buNone/>
            </a:pPr>
            <a:r>
              <a:rPr b="1" i="0" lang="ru-RU" sz="18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СТЕНД ДЛЯ АПРОБАЦИИ НА ESP32-S3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e3b9a9254b_0_226"/>
          <p:cNvSpPr/>
          <p:nvPr/>
        </p:nvSpPr>
        <p:spPr>
          <a:xfrm>
            <a:off x="7619800" y="2333206"/>
            <a:ext cx="101625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Golos Text"/>
              <a:buNone/>
            </a:pP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Монитор питания с разрешением </a:t>
            </a:r>
            <a:r>
              <a:rPr b="1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единиц микроампер</a:t>
            </a: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 и независимый контур записи измерений </a:t>
            </a:r>
            <a:endParaRPr b="0" i="0" sz="1600" u="none" cap="none" strike="noStrike">
              <a:solidFill>
                <a:srgbClr val="1F2937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Golos Text"/>
              <a:buNone/>
            </a:pP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— для </a:t>
            </a:r>
            <a:r>
              <a:rPr lang="ru-RU" sz="1600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регистрации</a:t>
            </a: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ru-RU" sz="1600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тока</a:t>
            </a:r>
            <a:r>
              <a:rPr b="0" i="0" lang="ru-RU" sz="1600" u="none" cap="none" strike="noStrike">
                <a:solidFill>
                  <a:srgbClr val="1F2937"/>
                </a:solidFill>
                <a:latin typeface="Golos Text"/>
                <a:ea typeface="Golos Text"/>
                <a:cs typeface="Golos Text"/>
                <a:sym typeface="Golos Text"/>
              </a:rPr>
              <a:t> по фазам программы без влияния на измеряемое устройство.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3b9a9254b_0_226"/>
          <p:cNvSpPr/>
          <p:nvPr/>
        </p:nvSpPr>
        <p:spPr>
          <a:xfrm>
            <a:off x="7327200" y="3281355"/>
            <a:ext cx="10515600" cy="2821500"/>
          </a:xfrm>
          <a:prstGeom prst="roundRect">
            <a:avLst>
              <a:gd fmla="val 4225" name="adj"/>
            </a:avLst>
          </a:prstGeom>
          <a:solidFill>
            <a:srgbClr val="F5F3FF"/>
          </a:solidFill>
          <a:ln cap="flat" cmpd="sng" w="1905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3b9a9254b_0_226"/>
          <p:cNvSpPr/>
          <p:nvPr/>
        </p:nvSpPr>
        <p:spPr>
          <a:xfrm>
            <a:off x="7601520" y="3080187"/>
            <a:ext cx="4937700" cy="402300"/>
          </a:xfrm>
          <a:prstGeom prst="roundRect">
            <a:avLst>
              <a:gd fmla="val 18182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e3b9a9254b_0_226"/>
          <p:cNvSpPr/>
          <p:nvPr/>
        </p:nvSpPr>
        <p:spPr>
          <a:xfrm>
            <a:off x="7601520" y="3080187"/>
            <a:ext cx="4937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los Text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КОНТУР 1 · ИЗМЕРЯЕМОЕ УСТРОЙСТВО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3b9a9254b_0_226"/>
          <p:cNvSpPr/>
          <p:nvPr/>
        </p:nvSpPr>
        <p:spPr>
          <a:xfrm>
            <a:off x="7601520" y="3865110"/>
            <a:ext cx="1737300" cy="11886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3b9a9254b_0_226"/>
          <p:cNvSpPr/>
          <p:nvPr/>
        </p:nvSpPr>
        <p:spPr>
          <a:xfrm>
            <a:off x="7601520" y="3865110"/>
            <a:ext cx="1737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olos Text"/>
              <a:buNone/>
            </a:pPr>
            <a:r>
              <a:rPr b="1" i="0" lang="ru-RU" sz="1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Аккумулятор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Golos Text"/>
              <a:buNone/>
            </a:pPr>
            <a:r>
              <a:rPr b="0" i="0" lang="ru-RU" sz="13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+ плата защиты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3b9a9254b_0_226"/>
          <p:cNvSpPr/>
          <p:nvPr/>
        </p:nvSpPr>
        <p:spPr>
          <a:xfrm>
            <a:off x="9750360" y="3865110"/>
            <a:ext cx="2286000" cy="1188600"/>
          </a:xfrm>
          <a:prstGeom prst="roundRect">
            <a:avLst>
              <a:gd fmla="val 4615" name="adj"/>
            </a:avLst>
          </a:prstGeom>
          <a:solidFill>
            <a:srgbClr val="FEF3C7"/>
          </a:solidFill>
          <a:ln cap="flat" cmpd="sng" w="190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e3b9a9254b_0_226"/>
          <p:cNvSpPr/>
          <p:nvPr/>
        </p:nvSpPr>
        <p:spPr>
          <a:xfrm>
            <a:off x="9750360" y="3865110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i="0" lang="ru-RU" sz="16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Монитор питания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Golos Text"/>
              <a:buNone/>
            </a:pPr>
            <a:r>
              <a:rPr b="1" i="0" lang="ru-RU" sz="1400" u="none" cap="none" strike="noStrike">
                <a:solidFill>
                  <a:srgbClr val="B45309"/>
                </a:solidFill>
                <a:latin typeface="Golos Text"/>
                <a:ea typeface="Golos Text"/>
                <a:cs typeface="Golos Text"/>
                <a:sym typeface="Golos Text"/>
              </a:rPr>
              <a:t>INA228 · 20 бит АЦП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e3b9a9254b_0_226"/>
          <p:cNvSpPr/>
          <p:nvPr/>
        </p:nvSpPr>
        <p:spPr>
          <a:xfrm>
            <a:off x="12447840" y="3865110"/>
            <a:ext cx="2606100" cy="1188600"/>
          </a:xfrm>
          <a:prstGeom prst="roundRect">
            <a:avLst>
              <a:gd fmla="val 461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e3b9a9254b_0_226"/>
          <p:cNvSpPr/>
          <p:nvPr/>
        </p:nvSpPr>
        <p:spPr>
          <a:xfrm>
            <a:off x="12447840" y="3865110"/>
            <a:ext cx="2606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olos Text"/>
              <a:buNone/>
            </a:pPr>
            <a:r>
              <a:rPr b="1" i="0" lang="ru-RU" sz="16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ESP32-S3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400"/>
              <a:buFont typeface="Golos Text"/>
              <a:buNone/>
            </a:pPr>
            <a:r>
              <a:rPr b="0" i="0" lang="ru-RU" sz="1400" u="none" cap="none" strike="noStrike">
                <a:solidFill>
                  <a:srgbClr val="EDE9FE"/>
                </a:solidFill>
                <a:latin typeface="Golos Text"/>
                <a:ea typeface="Golos Text"/>
                <a:cs typeface="Golos Text"/>
                <a:sym typeface="Golos Text"/>
              </a:rPr>
              <a:t>распознаёт команду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3b9a9254b_0_226"/>
          <p:cNvSpPr/>
          <p:nvPr/>
        </p:nvSpPr>
        <p:spPr>
          <a:xfrm>
            <a:off x="15236760" y="3545070"/>
            <a:ext cx="2331600" cy="6279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e3b9a9254b_0_226"/>
          <p:cNvSpPr/>
          <p:nvPr/>
        </p:nvSpPr>
        <p:spPr>
          <a:xfrm>
            <a:off x="15373920" y="3545070"/>
            <a:ext cx="2057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Микрофон</a:t>
            </a: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i="0" lang="ru-RU" sz="1200" u="none" cap="none" strike="noStrike">
                <a:solidFill>
                  <a:srgbClr val="7030A0"/>
                </a:solidFill>
                <a:latin typeface="Golos Text"/>
                <a:ea typeface="Golos Text"/>
                <a:cs typeface="Golos Text"/>
                <a:sym typeface="Golos Text"/>
              </a:rPr>
              <a:t>·</a:t>
            </a: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I²S</a:t>
            </a:r>
            <a:endParaRPr b="0" i="0" sz="120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поток звука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3b9a9254b_0_226"/>
          <p:cNvSpPr/>
          <p:nvPr/>
        </p:nvSpPr>
        <p:spPr>
          <a:xfrm>
            <a:off x="15236760" y="4271473"/>
            <a:ext cx="2331600" cy="5487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e3b9a9254b_0_226"/>
          <p:cNvSpPr/>
          <p:nvPr/>
        </p:nvSpPr>
        <p:spPr>
          <a:xfrm>
            <a:off x="15373920" y="4271473"/>
            <a:ext cx="205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Пороговый датчик</a:t>
            </a: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i="0" lang="ru-RU" sz="1200" u="none" cap="none" strike="noStrike">
                <a:solidFill>
                  <a:srgbClr val="7030A0"/>
                </a:solidFill>
                <a:latin typeface="Golos Text"/>
                <a:ea typeface="Golos Text"/>
                <a:cs typeface="Golos Text"/>
                <a:sym typeface="Golos Text"/>
              </a:rPr>
              <a:t>·</a:t>
            </a: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GPIO</a:t>
            </a: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  </a:t>
            </a:r>
            <a:endParaRPr b="0" i="0" sz="120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будит МК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3b9a9254b_0_226"/>
          <p:cNvSpPr/>
          <p:nvPr/>
        </p:nvSpPr>
        <p:spPr>
          <a:xfrm>
            <a:off x="15236760" y="4929841"/>
            <a:ext cx="2331600" cy="9600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3b9a9254b_0_226"/>
          <p:cNvSpPr/>
          <p:nvPr/>
        </p:nvSpPr>
        <p:spPr>
          <a:xfrm>
            <a:off x="15373920" y="4984705"/>
            <a:ext cx="205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Дисплей · фаза FSM</a:t>
            </a:r>
            <a:r>
              <a:rPr b="0" i="1" lang="ru-RU" sz="13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i="0" lang="ru-RU" sz="1300" u="none" cap="none" strike="noStrike">
                <a:solidFill>
                  <a:srgbClr val="7030A0"/>
                </a:solidFill>
                <a:latin typeface="Golos Text"/>
                <a:ea typeface="Golos Text"/>
                <a:cs typeface="Golos Text"/>
                <a:sym typeface="Golos Text"/>
              </a:rPr>
              <a:t>·</a:t>
            </a:r>
            <a:r>
              <a:rPr b="0" i="1" lang="ru-RU" sz="13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SPI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3b9a9254b_0_226"/>
          <p:cNvSpPr/>
          <p:nvPr/>
        </p:nvSpPr>
        <p:spPr>
          <a:xfrm>
            <a:off x="15373920" y="5341321"/>
            <a:ext cx="20574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3" name="Google Shape;393;g3e3b9a9254b_0_226"/>
          <p:cNvCxnSpPr/>
          <p:nvPr/>
        </p:nvCxnSpPr>
        <p:spPr>
          <a:xfrm>
            <a:off x="15908844" y="5569921"/>
            <a:ext cx="329100" cy="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g3e3b9a9254b_0_226"/>
          <p:cNvCxnSpPr/>
          <p:nvPr/>
        </p:nvCxnSpPr>
        <p:spPr>
          <a:xfrm>
            <a:off x="16567212" y="5569921"/>
            <a:ext cx="329100" cy="0"/>
          </a:xfrm>
          <a:prstGeom prst="straightConnector1">
            <a:avLst/>
          </a:prstGeom>
          <a:noFill/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g3e3b9a9254b_0_226"/>
          <p:cNvSpPr/>
          <p:nvPr/>
        </p:nvSpPr>
        <p:spPr>
          <a:xfrm>
            <a:off x="15579660" y="5405329"/>
            <a:ext cx="329100" cy="3291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3b9a9254b_0_226"/>
          <p:cNvSpPr/>
          <p:nvPr/>
        </p:nvSpPr>
        <p:spPr>
          <a:xfrm>
            <a:off x="15579660" y="5405329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3b9a9254b_0_226"/>
          <p:cNvSpPr/>
          <p:nvPr/>
        </p:nvSpPr>
        <p:spPr>
          <a:xfrm>
            <a:off x="16238028" y="5405329"/>
            <a:ext cx="329100" cy="3291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e3b9a9254b_0_226"/>
          <p:cNvSpPr/>
          <p:nvPr/>
        </p:nvSpPr>
        <p:spPr>
          <a:xfrm>
            <a:off x="16238028" y="5405329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I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3b9a9254b_0_226"/>
          <p:cNvSpPr/>
          <p:nvPr/>
        </p:nvSpPr>
        <p:spPr>
          <a:xfrm>
            <a:off x="16896396" y="5405329"/>
            <a:ext cx="329100" cy="3291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e3b9a9254b_0_226"/>
          <p:cNvSpPr/>
          <p:nvPr/>
        </p:nvSpPr>
        <p:spPr>
          <a:xfrm>
            <a:off x="16896396" y="5405329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3b9a9254b_0_226"/>
          <p:cNvSpPr/>
          <p:nvPr/>
        </p:nvSpPr>
        <p:spPr>
          <a:xfrm>
            <a:off x="12447840" y="5218422"/>
            <a:ext cx="2606100" cy="5487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e3b9a9254b_0_226"/>
          <p:cNvSpPr/>
          <p:nvPr/>
        </p:nvSpPr>
        <p:spPr>
          <a:xfrm>
            <a:off x="12539280" y="5218422"/>
            <a:ext cx="242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olos Text"/>
              <a:buNone/>
            </a:pPr>
            <a:r>
              <a:rPr b="1" i="0" lang="ru-RU" sz="13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Светодиод</a:t>
            </a:r>
            <a:r>
              <a:rPr b="0" i="1" lang="ru-RU" sz="13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i="0" lang="ru-RU" sz="1300" u="none" cap="none" strike="noStrike">
                <a:solidFill>
                  <a:srgbClr val="7030A0"/>
                </a:solidFill>
                <a:latin typeface="Golos Text"/>
                <a:ea typeface="Golos Text"/>
                <a:cs typeface="Golos Text"/>
                <a:sym typeface="Golos Text"/>
              </a:rPr>
              <a:t>·</a:t>
            </a:r>
            <a:r>
              <a:rPr b="0" i="1" lang="ru-RU" sz="13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0" i="1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GPIO</a:t>
            </a: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1200" u="none" cap="none" strike="noStrike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результат распознавания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g3e3b9a9254b_0_226"/>
          <p:cNvCxnSpPr/>
          <p:nvPr/>
        </p:nvCxnSpPr>
        <p:spPr>
          <a:xfrm>
            <a:off x="7507594" y="6499716"/>
            <a:ext cx="777300" cy="0"/>
          </a:xfrm>
          <a:prstGeom prst="straightConnector1">
            <a:avLst/>
          </a:prstGeom>
          <a:noFill/>
          <a:ln cap="flat" cmpd="sng" w="15875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4" name="Google Shape;404;g3e3b9a9254b_0_226"/>
          <p:cNvCxnSpPr/>
          <p:nvPr/>
        </p:nvCxnSpPr>
        <p:spPr>
          <a:xfrm>
            <a:off x="16880194" y="6499716"/>
            <a:ext cx="777300" cy="0"/>
          </a:xfrm>
          <a:prstGeom prst="straightConnector1">
            <a:avLst/>
          </a:prstGeom>
          <a:noFill/>
          <a:ln cap="flat" cmpd="sng" w="15875">
            <a:solidFill>
              <a:srgbClr val="37415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5" name="Google Shape;405;g3e3b9a9254b_0_226"/>
          <p:cNvSpPr/>
          <p:nvPr/>
        </p:nvSpPr>
        <p:spPr>
          <a:xfrm>
            <a:off x="8467714" y="6271116"/>
            <a:ext cx="8229600" cy="457200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e3b9a9254b_0_226"/>
          <p:cNvSpPr/>
          <p:nvPr/>
        </p:nvSpPr>
        <p:spPr>
          <a:xfrm>
            <a:off x="8467714" y="627111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Golos Text"/>
              <a:buNone/>
            </a:pPr>
            <a:r>
              <a:rPr b="1" i="0" lang="ru-RU" sz="1400" u="none" cap="none" strike="noStrike">
                <a:solidFill>
                  <a:srgbClr val="374151"/>
                </a:solidFill>
                <a:latin typeface="Golos Text"/>
                <a:ea typeface="Golos Text"/>
                <a:cs typeface="Golos Text"/>
                <a:sym typeface="Golos Text"/>
              </a:rPr>
              <a:t>РАЗДЕЛЬНЫЕ ШИНЫ ПИТАНИЯ · ОБЩАЯ ЗЕМЛЯ (ЗВЕЗДА)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3b9a9254b_0_226"/>
          <p:cNvSpPr/>
          <p:nvPr/>
        </p:nvSpPr>
        <p:spPr>
          <a:xfrm>
            <a:off x="7327200" y="7126189"/>
            <a:ext cx="10515600" cy="2510100"/>
          </a:xfrm>
          <a:prstGeom prst="roundRect">
            <a:avLst>
              <a:gd fmla="val 6977" name="adj"/>
            </a:avLst>
          </a:prstGeom>
          <a:solidFill>
            <a:srgbClr val="FDF4FF"/>
          </a:solidFill>
          <a:ln cap="flat" cmpd="sng" w="1905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e3b9a9254b_0_226"/>
          <p:cNvSpPr/>
          <p:nvPr/>
        </p:nvSpPr>
        <p:spPr>
          <a:xfrm>
            <a:off x="7601520" y="6925021"/>
            <a:ext cx="4572000" cy="402300"/>
          </a:xfrm>
          <a:prstGeom prst="roundRect">
            <a:avLst>
              <a:gd fmla="val 18182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3b9a9254b_0_226"/>
          <p:cNvSpPr/>
          <p:nvPr/>
        </p:nvSpPr>
        <p:spPr>
          <a:xfrm>
            <a:off x="7601520" y="6925021"/>
            <a:ext cx="4572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los Text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КОНТУР 2 · ЗАПИСЬ ИЗМЕРЕНИЙ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e3b9a9254b_0_226"/>
          <p:cNvSpPr/>
          <p:nvPr/>
        </p:nvSpPr>
        <p:spPr>
          <a:xfrm>
            <a:off x="10515389" y="7773780"/>
            <a:ext cx="2907900" cy="1329900"/>
          </a:xfrm>
          <a:prstGeom prst="roundRect">
            <a:avLst>
              <a:gd fmla="val 8696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e3b9a9254b_0_226"/>
          <p:cNvSpPr/>
          <p:nvPr/>
        </p:nvSpPr>
        <p:spPr>
          <a:xfrm>
            <a:off x="10515389" y="7773780"/>
            <a:ext cx="29079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olos Text"/>
              <a:buNone/>
            </a:pPr>
            <a:r>
              <a:rPr b="1" i="0" lang="ru-RU" sz="16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Микроконтроллер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E8FF"/>
              </a:buClr>
              <a:buSzPts val="1400"/>
              <a:buFont typeface="Golos Text"/>
              <a:buNone/>
            </a:pPr>
            <a:r>
              <a:rPr b="0" i="0" lang="ru-RU" sz="1400" u="none" cap="none" strike="noStrike">
                <a:solidFill>
                  <a:srgbClr val="FAE8FF"/>
                </a:solidFill>
                <a:latin typeface="Golos Text"/>
                <a:ea typeface="Golos Text"/>
                <a:cs typeface="Golos Text"/>
                <a:sym typeface="Golos Text"/>
              </a:rPr>
              <a:t>опрашивает монитор </a:t>
            </a:r>
            <a:r>
              <a:rPr b="0" i="0" lang="ru-RU" sz="1400" u="sng" cap="none" strike="noStrike">
                <a:solidFill>
                  <a:srgbClr val="FAE8FF"/>
                </a:solidFill>
                <a:latin typeface="Golos Text"/>
                <a:ea typeface="Golos Text"/>
                <a:cs typeface="Golos Text"/>
                <a:sym typeface="Golos Text"/>
              </a:rPr>
              <a:t>по</a:t>
            </a:r>
            <a:r>
              <a:rPr b="0" i="0" lang="ru-RU" sz="1400" u="sng" cap="none" strike="noStrike">
                <a:solidFill>
                  <a:srgbClr val="FAE8FF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i="0" lang="ru-RU" sz="1400" u="sng" cap="none" strike="noStrike">
                <a:solidFill>
                  <a:srgbClr val="FAE8FF"/>
                </a:solidFill>
                <a:latin typeface="Golos Text"/>
                <a:ea typeface="Golos Text"/>
                <a:cs typeface="Golos Text"/>
                <a:sym typeface="Golos Text"/>
              </a:rPr>
              <a:t>I²C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3b9a9254b_0_226"/>
          <p:cNvSpPr/>
          <p:nvPr/>
        </p:nvSpPr>
        <p:spPr>
          <a:xfrm>
            <a:off x="14799934" y="7331275"/>
            <a:ext cx="2560200" cy="960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5875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3b9a9254b_0_226"/>
          <p:cNvSpPr/>
          <p:nvPr/>
        </p:nvSpPr>
        <p:spPr>
          <a:xfrm>
            <a:off x="14799934" y="7331275"/>
            <a:ext cx="2560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olos Text"/>
              <a:buNone/>
            </a:pPr>
            <a:r>
              <a:rPr b="1" i="0" lang="ru-RU" sz="1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Компьютер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консолидация данных,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Golos Text"/>
              <a:buNone/>
            </a:pPr>
            <a:r>
              <a:rPr b="0" i="0" lang="ru-RU" sz="12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расчёты и графики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3b9a9254b_0_226"/>
          <p:cNvSpPr/>
          <p:nvPr/>
        </p:nvSpPr>
        <p:spPr>
          <a:xfrm>
            <a:off x="14799934" y="8451426"/>
            <a:ext cx="2560200" cy="10515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5875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e3b9a9254b_0_226"/>
          <p:cNvSpPr/>
          <p:nvPr/>
        </p:nvSpPr>
        <p:spPr>
          <a:xfrm>
            <a:off x="14891374" y="8497146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olos Text"/>
              <a:buNone/>
            </a:pPr>
            <a:r>
              <a:rPr b="1" i="0" lang="ru-RU" sz="115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Дисплей · I(t)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3b9a9254b_0_226"/>
          <p:cNvSpPr/>
          <p:nvPr/>
        </p:nvSpPr>
        <p:spPr>
          <a:xfrm>
            <a:off x="14937094" y="8817186"/>
            <a:ext cx="22860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g3e3b9a9254b_0_226"/>
          <p:cNvCxnSpPr/>
          <p:nvPr/>
        </p:nvCxnSpPr>
        <p:spPr>
          <a:xfrm>
            <a:off x="14982814" y="9320106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g3e3b9a9254b_0_226"/>
          <p:cNvCxnSpPr/>
          <p:nvPr/>
        </p:nvCxnSpPr>
        <p:spPr>
          <a:xfrm>
            <a:off x="14982814" y="9363997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g3e3b9a9254b_0_226"/>
          <p:cNvCxnSpPr/>
          <p:nvPr/>
        </p:nvCxnSpPr>
        <p:spPr>
          <a:xfrm flipH="1" rot="10800000">
            <a:off x="15165694" y="9144096"/>
            <a:ext cx="45600" cy="2199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g3e3b9a9254b_0_226"/>
          <p:cNvCxnSpPr/>
          <p:nvPr/>
        </p:nvCxnSpPr>
        <p:spPr>
          <a:xfrm>
            <a:off x="15211413" y="9144084"/>
            <a:ext cx="68700" cy="2199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g3e3b9a9254b_0_226"/>
          <p:cNvCxnSpPr/>
          <p:nvPr/>
        </p:nvCxnSpPr>
        <p:spPr>
          <a:xfrm>
            <a:off x="15279994" y="9363997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g3e3b9a9254b_0_226"/>
          <p:cNvCxnSpPr/>
          <p:nvPr/>
        </p:nvCxnSpPr>
        <p:spPr>
          <a:xfrm flipH="1" rot="10800000">
            <a:off x="15622894" y="9025296"/>
            <a:ext cx="68700" cy="3387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g3e3b9a9254b_0_226"/>
          <p:cNvCxnSpPr/>
          <p:nvPr/>
        </p:nvCxnSpPr>
        <p:spPr>
          <a:xfrm>
            <a:off x="15691474" y="9025212"/>
            <a:ext cx="159900" cy="297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g3e3b9a9254b_0_226"/>
          <p:cNvCxnSpPr/>
          <p:nvPr/>
        </p:nvCxnSpPr>
        <p:spPr>
          <a:xfrm flipH="1" rot="10800000">
            <a:off x="15851494" y="8906430"/>
            <a:ext cx="68700" cy="1485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g3e3b9a9254b_0_226"/>
          <p:cNvCxnSpPr/>
          <p:nvPr/>
        </p:nvCxnSpPr>
        <p:spPr>
          <a:xfrm flipH="1" rot="10800000">
            <a:off x="15920074" y="8888639"/>
            <a:ext cx="159900" cy="177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g3e3b9a9254b_0_226"/>
          <p:cNvCxnSpPr/>
          <p:nvPr/>
        </p:nvCxnSpPr>
        <p:spPr>
          <a:xfrm>
            <a:off x="16080094" y="8888509"/>
            <a:ext cx="114300" cy="1962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g3e3b9a9254b_0_226"/>
          <p:cNvCxnSpPr/>
          <p:nvPr/>
        </p:nvCxnSpPr>
        <p:spPr>
          <a:xfrm>
            <a:off x="16194394" y="9084648"/>
            <a:ext cx="114300" cy="2793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g3e3b9a9254b_0_226"/>
          <p:cNvCxnSpPr/>
          <p:nvPr/>
        </p:nvCxnSpPr>
        <p:spPr>
          <a:xfrm>
            <a:off x="16308694" y="9363997"/>
            <a:ext cx="800100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g3e3b9a9254b_0_226"/>
          <p:cNvSpPr/>
          <p:nvPr/>
        </p:nvSpPr>
        <p:spPr>
          <a:xfrm>
            <a:off x="7619808" y="7823527"/>
            <a:ext cx="1839300" cy="12804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e3b9a9254b_0_226"/>
          <p:cNvSpPr/>
          <p:nvPr/>
        </p:nvSpPr>
        <p:spPr>
          <a:xfrm>
            <a:off x="7670818" y="7869313"/>
            <a:ext cx="1737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olos Text"/>
              <a:buNone/>
            </a:pPr>
            <a:r>
              <a:rPr b="1" i="0" lang="ru-RU" sz="1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Аккумулятор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Golos Text"/>
              <a:buNone/>
            </a:pPr>
            <a:r>
              <a:rPr b="0" i="0" lang="ru-RU" sz="13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+ плата защиты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g3e3b9a9254b_0_226"/>
          <p:cNvCxnSpPr/>
          <p:nvPr/>
        </p:nvCxnSpPr>
        <p:spPr>
          <a:xfrm>
            <a:off x="9459189" y="8424406"/>
            <a:ext cx="1056300" cy="300"/>
          </a:xfrm>
          <a:prstGeom prst="straightConnector1">
            <a:avLst/>
          </a:prstGeom>
          <a:noFill/>
          <a:ln cap="flat" cmpd="sng" w="38100">
            <a:solidFill>
              <a:srgbClr val="9333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2" name="Google Shape;432;g3e3b9a9254b_0_226"/>
          <p:cNvSpPr/>
          <p:nvPr/>
        </p:nvSpPr>
        <p:spPr>
          <a:xfrm>
            <a:off x="9801522" y="813251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33EA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9333EA"/>
                </a:solidFill>
                <a:latin typeface="Golos Text"/>
                <a:ea typeface="Golos Text"/>
                <a:cs typeface="Golos Text"/>
                <a:sym typeface="Golos Text"/>
              </a:rPr>
              <a:t>+V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g3e3b9a9254b_0_226"/>
          <p:cNvCxnSpPr/>
          <p:nvPr/>
        </p:nvCxnSpPr>
        <p:spPr>
          <a:xfrm>
            <a:off x="13410136" y="8073855"/>
            <a:ext cx="1386600" cy="2700"/>
          </a:xfrm>
          <a:prstGeom prst="straightConnector1">
            <a:avLst/>
          </a:prstGeom>
          <a:noFill/>
          <a:ln cap="flat" cmpd="sng" w="19050">
            <a:solidFill>
              <a:srgbClr val="9333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g3e3b9a9254b_0_226"/>
          <p:cNvSpPr/>
          <p:nvPr/>
        </p:nvSpPr>
        <p:spPr>
          <a:xfrm>
            <a:off x="13934520" y="7781247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33EA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9333EA"/>
                </a:solidFill>
                <a:latin typeface="Golos Text"/>
                <a:ea typeface="Golos Text"/>
                <a:cs typeface="Golos Text"/>
                <a:sym typeface="Golos Text"/>
              </a:rPr>
              <a:t>UART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g3e3b9a9254b_0_226"/>
          <p:cNvCxnSpPr/>
          <p:nvPr/>
        </p:nvCxnSpPr>
        <p:spPr>
          <a:xfrm>
            <a:off x="13423436" y="8781764"/>
            <a:ext cx="1373100" cy="1500"/>
          </a:xfrm>
          <a:prstGeom prst="straightConnector1">
            <a:avLst/>
          </a:prstGeom>
          <a:noFill/>
          <a:ln cap="flat" cmpd="sng" w="19050">
            <a:solidFill>
              <a:srgbClr val="9333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g3e3b9a9254b_0_226"/>
          <p:cNvSpPr/>
          <p:nvPr/>
        </p:nvSpPr>
        <p:spPr>
          <a:xfrm>
            <a:off x="13934520" y="885034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33EA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9333EA"/>
                </a:solidFill>
                <a:latin typeface="Golos Text"/>
                <a:ea typeface="Golos Text"/>
                <a:cs typeface="Golos Text"/>
                <a:sym typeface="Golos Text"/>
              </a:rPr>
              <a:t>SPI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g3e3b9a9254b_0_226"/>
          <p:cNvCxnSpPr/>
          <p:nvPr/>
        </p:nvCxnSpPr>
        <p:spPr>
          <a:xfrm flipH="1" rot="10800000">
            <a:off x="9346499" y="4467430"/>
            <a:ext cx="399600" cy="2100"/>
          </a:xfrm>
          <a:prstGeom prst="straightConnector1">
            <a:avLst/>
          </a:prstGeom>
          <a:noFill/>
          <a:ln cap="flat" cmpd="sng" w="28575">
            <a:solidFill>
              <a:srgbClr val="5B21B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g3e3b9a9254b_0_226"/>
          <p:cNvSpPr/>
          <p:nvPr/>
        </p:nvSpPr>
        <p:spPr>
          <a:xfrm>
            <a:off x="9362283" y="410377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+V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g3e3b9a9254b_0_226"/>
          <p:cNvCxnSpPr/>
          <p:nvPr/>
        </p:nvCxnSpPr>
        <p:spPr>
          <a:xfrm flipH="1" rot="10800000">
            <a:off x="12036360" y="4399995"/>
            <a:ext cx="407700" cy="1500"/>
          </a:xfrm>
          <a:prstGeom prst="straightConnector1">
            <a:avLst/>
          </a:prstGeom>
          <a:noFill/>
          <a:ln cap="flat" cmpd="sng" w="28575">
            <a:solidFill>
              <a:srgbClr val="5B21B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g3e3b9a9254b_0_226"/>
          <p:cNvSpPr/>
          <p:nvPr/>
        </p:nvSpPr>
        <p:spPr>
          <a:xfrm>
            <a:off x="12036360" y="4035734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Golos Text"/>
              <a:buNone/>
            </a:pPr>
            <a:r>
              <a:rPr b="1" i="0" lang="ru-RU" sz="12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+V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3b9a9254b_0_232"/>
          <p:cNvSpPr/>
          <p:nvPr/>
        </p:nvSpPr>
        <p:spPr>
          <a:xfrm>
            <a:off x="12814900" y="7169496"/>
            <a:ext cx="5655300" cy="1935900"/>
          </a:xfrm>
          <a:prstGeom prst="roundRect">
            <a:avLst>
              <a:gd fmla="val 6452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e3b9a9254b_0_232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Задача 5. Профиль тока каскада</a:t>
            </a:r>
            <a:endParaRPr sz="6489"/>
          </a:p>
        </p:txBody>
      </p:sp>
      <p:sp>
        <p:nvSpPr>
          <p:cNvPr id="448" name="Google Shape;448;g3e3b9a9254b_0_232"/>
          <p:cNvSpPr txBox="1"/>
          <p:nvPr/>
        </p:nvSpPr>
        <p:spPr>
          <a:xfrm>
            <a:off x="17513643" y="9611400"/>
            <a:ext cx="11553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11/15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49" name="Google Shape;449;g3e3b9a9254b_0_232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0" name="Google Shape;450;g3e3b9a9254b_0_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" y="2018287"/>
            <a:ext cx="12740898" cy="77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e3b9a9254b_0_232"/>
          <p:cNvSpPr/>
          <p:nvPr/>
        </p:nvSpPr>
        <p:spPr>
          <a:xfrm>
            <a:off x="12944051" y="2372588"/>
            <a:ext cx="481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Golos Text"/>
              <a:buNone/>
            </a:pPr>
            <a:r>
              <a:rPr b="1" lang="ru-RU" sz="2800">
                <a:solidFill>
                  <a:srgbClr val="7C3AED"/>
                </a:solidFill>
                <a:latin typeface="Golos Text"/>
                <a:ea typeface="Golos Text"/>
                <a:cs typeface="Golos Text"/>
                <a:sym typeface="Golos Text"/>
              </a:rPr>
              <a:t>Ключевые наблюдения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3b9a9254b_0_232"/>
          <p:cNvSpPr/>
          <p:nvPr/>
        </p:nvSpPr>
        <p:spPr>
          <a:xfrm>
            <a:off x="12927904" y="3104131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e3b9a9254b_0_232"/>
          <p:cNvSpPr/>
          <p:nvPr/>
        </p:nvSpPr>
        <p:spPr>
          <a:xfrm>
            <a:off x="13002879" y="3170883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i="0" lang="ru-RU" sz="24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3b9a9254b_0_232"/>
          <p:cNvSpPr/>
          <p:nvPr/>
        </p:nvSpPr>
        <p:spPr>
          <a:xfrm>
            <a:off x="13631150" y="3083888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Полный цикл — 9 секунд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3b9a9254b_0_232"/>
          <p:cNvSpPr/>
          <p:nvPr/>
        </p:nvSpPr>
        <p:spPr>
          <a:xfrm>
            <a:off x="13631150" y="3483850"/>
            <a:ext cx="399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lang="ru-RU" sz="24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от пробуждения до возврата в сон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3b9a9254b_0_232"/>
          <p:cNvSpPr/>
          <p:nvPr/>
        </p:nvSpPr>
        <p:spPr>
          <a:xfrm>
            <a:off x="13640050" y="4427083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Сон — 6ма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e3b9a9254b_0_232"/>
          <p:cNvSpPr/>
          <p:nvPr/>
        </p:nvSpPr>
        <p:spPr>
          <a:xfrm>
            <a:off x="13634700" y="4862128"/>
            <a:ext cx="4887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lang="ru-RU" sz="24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базовая “полка” потребления отладочной платы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3b9a9254b_0_232"/>
          <p:cNvSpPr/>
          <p:nvPr/>
        </p:nvSpPr>
        <p:spPr>
          <a:xfrm>
            <a:off x="13640050" y="5788374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Пик — 110ма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e3b9a9254b_0_232"/>
          <p:cNvSpPr/>
          <p:nvPr/>
        </p:nvSpPr>
        <p:spPr>
          <a:xfrm>
            <a:off x="13640050" y="6219713"/>
            <a:ext cx="4887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lang="ru-RU" sz="24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во время аппаратной инициализации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3b9a9254b_0_232"/>
          <p:cNvSpPr/>
          <p:nvPr/>
        </p:nvSpPr>
        <p:spPr>
          <a:xfrm>
            <a:off x="13640050" y="7316227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Длительность важнее пика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e3b9a9254b_0_232"/>
          <p:cNvSpPr/>
          <p:nvPr/>
        </p:nvSpPr>
        <p:spPr>
          <a:xfrm>
            <a:off x="13640050" y="7816432"/>
            <a:ext cx="48876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lang="ru-RU" sz="24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основное потребление - при длительной записи аудио и инициализации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e3b9a9254b_0_232"/>
          <p:cNvSpPr/>
          <p:nvPr/>
        </p:nvSpPr>
        <p:spPr>
          <a:xfrm>
            <a:off x="12929679" y="4427101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e3b9a9254b_0_232"/>
          <p:cNvSpPr/>
          <p:nvPr/>
        </p:nvSpPr>
        <p:spPr>
          <a:xfrm>
            <a:off x="13004654" y="449385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lang="ru-RU" sz="24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e3b9a9254b_0_232"/>
          <p:cNvSpPr/>
          <p:nvPr/>
        </p:nvSpPr>
        <p:spPr>
          <a:xfrm>
            <a:off x="12930579" y="5773412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e3b9a9254b_0_232"/>
          <p:cNvSpPr/>
          <p:nvPr/>
        </p:nvSpPr>
        <p:spPr>
          <a:xfrm>
            <a:off x="13005554" y="5840164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lang="ru-RU" sz="24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3b9a9254b_0_232"/>
          <p:cNvSpPr/>
          <p:nvPr/>
        </p:nvSpPr>
        <p:spPr>
          <a:xfrm>
            <a:off x="12932354" y="7344952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e3b9a9254b_0_232"/>
          <p:cNvSpPr/>
          <p:nvPr/>
        </p:nvSpPr>
        <p:spPr>
          <a:xfrm>
            <a:off x="13007329" y="7411703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lang="ru-RU" sz="24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e3b9a9254b_0_232"/>
          <p:cNvSpPr/>
          <p:nvPr/>
        </p:nvSpPr>
        <p:spPr>
          <a:xfrm>
            <a:off x="728803" y="9720588"/>
            <a:ext cx="1152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Golos Text"/>
              <a:buNone/>
            </a:pPr>
            <a:r>
              <a:rPr b="0" i="1" lang="ru-RU" sz="16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Платформа: ESP32-S3 dev-board · батарея 3.7 В · напряжение </a:t>
            </a:r>
            <a:r>
              <a:rPr i="1" lang="ru-RU" sz="16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~</a:t>
            </a:r>
            <a:r>
              <a:rPr b="0" i="1" lang="ru-RU" sz="16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постоянно за время цикла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3b9a9254b_0_240"/>
          <p:cNvSpPr txBox="1"/>
          <p:nvPr>
            <p:ph type="title"/>
          </p:nvPr>
        </p:nvSpPr>
        <p:spPr>
          <a:xfrm>
            <a:off x="228640" y="536050"/>
            <a:ext cx="147147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9"/>
              <a:buNone/>
            </a:pPr>
            <a:r>
              <a:rPr lang="ru-RU" sz="5440"/>
              <a:t>Задача 5. Декомпозиция энергобюджета</a:t>
            </a:r>
            <a:endParaRPr sz="5440"/>
          </a:p>
        </p:txBody>
      </p:sp>
      <p:sp>
        <p:nvSpPr>
          <p:cNvPr id="475" name="Google Shape;475;g3e3b9a9254b_0_240"/>
          <p:cNvSpPr txBox="1"/>
          <p:nvPr/>
        </p:nvSpPr>
        <p:spPr>
          <a:xfrm>
            <a:off x="17362151" y="9611400"/>
            <a:ext cx="13065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12/15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76" name="Google Shape;476;g3e3b9a9254b_0_240"/>
          <p:cNvCxnSpPr/>
          <p:nvPr/>
        </p:nvCxnSpPr>
        <p:spPr>
          <a:xfrm>
            <a:off x="419750" y="1737350"/>
            <a:ext cx="174093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g3e3b9a9254b_0_240"/>
          <p:cNvSpPr/>
          <p:nvPr/>
        </p:nvSpPr>
        <p:spPr>
          <a:xfrm>
            <a:off x="10655075" y="2011675"/>
            <a:ext cx="7173600" cy="2688600"/>
          </a:xfrm>
          <a:prstGeom prst="rect">
            <a:avLst/>
          </a:prstGeom>
          <a:solidFill>
            <a:srgbClr val="E6F3EC"/>
          </a:solidFill>
          <a:ln cap="flat" cmpd="sng" w="19325">
            <a:solidFill>
              <a:srgbClr val="2D8C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e3b9a9254b_0_240"/>
          <p:cNvSpPr/>
          <p:nvPr/>
        </p:nvSpPr>
        <p:spPr>
          <a:xfrm>
            <a:off x="10655075" y="2011675"/>
            <a:ext cx="143100" cy="2688600"/>
          </a:xfrm>
          <a:prstGeom prst="rect">
            <a:avLst/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e3b9a9254b_0_240"/>
          <p:cNvSpPr/>
          <p:nvPr/>
        </p:nvSpPr>
        <p:spPr>
          <a:xfrm>
            <a:off x="11053619" y="2173592"/>
            <a:ext cx="6536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56"/>
              </a:buClr>
              <a:buSzPts val="2000"/>
              <a:buFont typeface="Calibri"/>
              <a:buNone/>
            </a:pPr>
            <a:r>
              <a:rPr i="0" lang="ru-RU" sz="2500" u="none" cap="none" strike="noStrike">
                <a:solidFill>
                  <a:srgbClr val="2D8C5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ВЫЧИСЛЕНИЯ</a:t>
            </a:r>
            <a:endParaRPr i="0" sz="25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480" name="Google Shape;480;g3e3b9a9254b_0_240"/>
          <p:cNvSpPr/>
          <p:nvPr/>
        </p:nvSpPr>
        <p:spPr>
          <a:xfrm>
            <a:off x="11053619" y="2593423"/>
            <a:ext cx="6536400" cy="12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7300"/>
              <a:buFont typeface="Calibri"/>
              <a:buNone/>
            </a:pPr>
            <a:r>
              <a:rPr b="1" i="0" lang="ru-RU" sz="70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19,2 %</a:t>
            </a:r>
            <a:endParaRPr b="1" i="0" sz="7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1" name="Google Shape;481;g3e3b9a9254b_0_240"/>
          <p:cNvSpPr/>
          <p:nvPr/>
        </p:nvSpPr>
        <p:spPr>
          <a:xfrm>
            <a:off x="11053619" y="3819731"/>
            <a:ext cx="65364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lang="ru-RU" sz="2500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извлечение признаков</a:t>
            </a: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 9,0 %</a:t>
            </a:r>
            <a:endParaRPr sz="2500">
              <a:solidFill>
                <a:srgbClr val="6B6B6B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инференс 10,2 %</a:t>
            </a:r>
            <a:endParaRPr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2" name="Google Shape;482;g3e3b9a9254b_0_240"/>
          <p:cNvSpPr/>
          <p:nvPr/>
        </p:nvSpPr>
        <p:spPr>
          <a:xfrm>
            <a:off x="10655075" y="4912605"/>
            <a:ext cx="7173600" cy="2852700"/>
          </a:xfrm>
          <a:prstGeom prst="rect">
            <a:avLst/>
          </a:prstGeom>
          <a:solidFill>
            <a:srgbClr val="F8D7DA"/>
          </a:solidFill>
          <a:ln cap="flat" cmpd="sng" w="19325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e3b9a9254b_0_240"/>
          <p:cNvSpPr/>
          <p:nvPr/>
        </p:nvSpPr>
        <p:spPr>
          <a:xfrm>
            <a:off x="10655075" y="4912605"/>
            <a:ext cx="143100" cy="2852700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e3b9a9254b_0_240"/>
          <p:cNvSpPr/>
          <p:nvPr/>
        </p:nvSpPr>
        <p:spPr>
          <a:xfrm>
            <a:off x="11053619" y="5084837"/>
            <a:ext cx="6536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Calibri"/>
              <a:buNone/>
            </a:pPr>
            <a:r>
              <a:rPr i="0" lang="ru-RU" sz="2500" u="none" cap="none" strike="noStrike">
                <a:solidFill>
                  <a:srgbClr val="D7263D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СЕРВИСНЫЕ ЭТАПЫ</a:t>
            </a:r>
            <a:endParaRPr i="0" sz="25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485" name="Google Shape;485;g3e3b9a9254b_0_240"/>
          <p:cNvSpPr/>
          <p:nvPr/>
        </p:nvSpPr>
        <p:spPr>
          <a:xfrm>
            <a:off x="11053619" y="5506541"/>
            <a:ext cx="6536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7300"/>
              <a:buFont typeface="Calibri"/>
              <a:buNone/>
            </a:pPr>
            <a:r>
              <a:rPr b="1" i="0" lang="ru-RU" sz="7000" u="none" cap="none" strike="noStrike">
                <a:solidFill>
                  <a:srgbClr val="0F0F0F"/>
                </a:solidFill>
                <a:latin typeface="Golos Text"/>
                <a:ea typeface="Golos Text"/>
                <a:cs typeface="Golos Text"/>
                <a:sym typeface="Golos Text"/>
              </a:rPr>
              <a:t>80,8 %</a:t>
            </a:r>
            <a:endParaRPr b="1" i="0" sz="7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6" name="Google Shape;486;g3e3b9a9254b_0_240"/>
          <p:cNvSpPr/>
          <p:nvPr/>
        </p:nvSpPr>
        <p:spPr>
          <a:xfrm>
            <a:off x="11053625" y="6742525"/>
            <a:ext cx="66888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инициализация 34,9 %</a:t>
            </a:r>
            <a:endParaRPr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захват аудио 37,4 %  ·  </a:t>
            </a:r>
            <a:r>
              <a:rPr lang="ru-RU" sz="2500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переход в сон</a:t>
            </a:r>
            <a:r>
              <a:rPr i="0" lang="ru-RU" sz="2500" u="none" cap="none" strike="noStrike">
                <a:solidFill>
                  <a:srgbClr val="6B6B6B"/>
                </a:solidFill>
                <a:latin typeface="Golos Text"/>
                <a:ea typeface="Golos Text"/>
                <a:cs typeface="Golos Text"/>
                <a:sym typeface="Golos Text"/>
              </a:rPr>
              <a:t> 8,5 %</a:t>
            </a:r>
            <a:endParaRPr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87" name="Google Shape;487;g3e3b9a9254b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339" y="2011675"/>
            <a:ext cx="9434861" cy="570520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e3b9a9254b_0_240"/>
          <p:cNvSpPr/>
          <p:nvPr/>
        </p:nvSpPr>
        <p:spPr>
          <a:xfrm>
            <a:off x="1004110" y="7968680"/>
            <a:ext cx="7955400" cy="1554600"/>
          </a:xfrm>
          <a:prstGeom prst="roundRect">
            <a:avLst>
              <a:gd fmla="val 5882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e3b9a9254b_0_240"/>
          <p:cNvSpPr/>
          <p:nvPr/>
        </p:nvSpPr>
        <p:spPr>
          <a:xfrm>
            <a:off x="1369864" y="8151560"/>
            <a:ext cx="7223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b="1" i="0" lang="ru-RU" sz="18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В ЛИТЕРАТУРЕ</a:t>
            </a:r>
            <a:endParaRPr b="1" sz="1800">
              <a:solidFill>
                <a:srgbClr val="6B728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Golos Text"/>
              <a:buNone/>
            </a:pPr>
            <a:r>
              <a:rPr b="0" i="0" lang="ru-RU" sz="22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вычисления — главный потребитель энергии </a:t>
            </a:r>
            <a:r>
              <a:rPr lang="ru-RU" sz="22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конвейера распознавания команд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3b9a9254b_0_240"/>
          <p:cNvSpPr/>
          <p:nvPr/>
        </p:nvSpPr>
        <p:spPr>
          <a:xfrm>
            <a:off x="8959262" y="7968680"/>
            <a:ext cx="914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000"/>
              <a:buFont typeface="Golos Text"/>
              <a:buNone/>
            </a:pPr>
            <a:r>
              <a:rPr b="1" i="0" lang="ru-RU" sz="4000" u="none" cap="none" strike="noStrike">
                <a:solidFill>
                  <a:srgbClr val="7C3AE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e3b9a9254b_0_240"/>
          <p:cNvSpPr/>
          <p:nvPr/>
        </p:nvSpPr>
        <p:spPr>
          <a:xfrm>
            <a:off x="9873648" y="7968680"/>
            <a:ext cx="7955400" cy="1554600"/>
          </a:xfrm>
          <a:prstGeom prst="roundRect">
            <a:avLst>
              <a:gd fmla="val 5882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e3b9a9254b_0_240"/>
          <p:cNvSpPr/>
          <p:nvPr/>
        </p:nvSpPr>
        <p:spPr>
          <a:xfrm>
            <a:off x="10239400" y="8151550"/>
            <a:ext cx="7503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400"/>
              <a:buFont typeface="Golos Text"/>
              <a:buNone/>
            </a:pPr>
            <a:r>
              <a:rPr b="1" i="0" lang="ru-RU" sz="1800" u="none" cap="none" strike="noStrike">
                <a:solidFill>
                  <a:srgbClr val="E9D5FF"/>
                </a:solidFill>
                <a:latin typeface="Golos Text"/>
                <a:ea typeface="Golos Text"/>
                <a:cs typeface="Golos Text"/>
                <a:sym typeface="Golos Text"/>
              </a:rPr>
              <a:t>В ЭТОЙ РАБОТЕ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los Text"/>
              <a:buNone/>
            </a:pPr>
            <a:r>
              <a:rPr b="1" i="0" lang="ru-RU" sz="2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вычисления — лишь 19 %; доминируют сервисные этапы (81 %) → переворот приоритетов оптимизации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3b9a9254b_0_250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Автономная работа от АКБ</a:t>
            </a:r>
            <a:endParaRPr sz="6489"/>
          </a:p>
        </p:txBody>
      </p:sp>
      <p:sp>
        <p:nvSpPr>
          <p:cNvPr id="499" name="Google Shape;499;g3e3b9a9254b_0_250"/>
          <p:cNvSpPr txBox="1"/>
          <p:nvPr/>
        </p:nvSpPr>
        <p:spPr>
          <a:xfrm>
            <a:off x="17453050" y="9611400"/>
            <a:ext cx="1215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13/15</a:t>
            </a:r>
            <a:endParaRPr sz="2433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00" name="Google Shape;500;g3e3b9a9254b_0_250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g3e3b9a9254b_0_250"/>
          <p:cNvSpPr/>
          <p:nvPr/>
        </p:nvSpPr>
        <p:spPr>
          <a:xfrm>
            <a:off x="12944051" y="1791401"/>
            <a:ext cx="481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Golos Text"/>
              <a:buNone/>
            </a:pPr>
            <a:r>
              <a:rPr b="1" i="0" lang="ru-RU" sz="2800" u="none" cap="none" strike="noStrike">
                <a:solidFill>
                  <a:srgbClr val="7C3AED"/>
                </a:solidFill>
                <a:latin typeface="Golos Text"/>
                <a:ea typeface="Golos Text"/>
                <a:cs typeface="Golos Text"/>
                <a:sym typeface="Golos Text"/>
              </a:rPr>
              <a:t>От стенда к продукту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e3b9a9254b_0_250"/>
          <p:cNvSpPr/>
          <p:nvPr/>
        </p:nvSpPr>
        <p:spPr>
          <a:xfrm>
            <a:off x="12927904" y="2522945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e3b9a9254b_0_250"/>
          <p:cNvSpPr/>
          <p:nvPr/>
        </p:nvSpPr>
        <p:spPr>
          <a:xfrm>
            <a:off x="13002879" y="2589696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i="0" lang="ru-RU" sz="24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e3b9a9254b_0_250"/>
          <p:cNvSpPr/>
          <p:nvPr/>
        </p:nvSpPr>
        <p:spPr>
          <a:xfrm>
            <a:off x="13631150" y="2502701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Минимизировать избыточность компонентов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e3b9a9254b_0_250"/>
          <p:cNvSpPr/>
          <p:nvPr/>
        </p:nvSpPr>
        <p:spPr>
          <a:xfrm>
            <a:off x="13647444" y="3244471"/>
            <a:ext cx="399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b="0" i="0" lang="ru-RU" sz="24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сон 6 мА → </a:t>
            </a:r>
            <a:r>
              <a:rPr lang="ru-RU" sz="2400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десятки</a:t>
            </a:r>
            <a:r>
              <a:rPr b="0" i="0" lang="ru-RU" sz="24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 мкА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e3b9a9254b_0_250"/>
          <p:cNvSpPr/>
          <p:nvPr/>
        </p:nvSpPr>
        <p:spPr>
          <a:xfrm>
            <a:off x="13640050" y="3716744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i="0" lang="ru-RU" sz="2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MEMS-микрофон </a:t>
            </a: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 пробуждением</a:t>
            </a:r>
            <a:r>
              <a:rPr b="1" i="0" lang="ru-RU" sz="2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 звуку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e3b9a9254b_0_250"/>
          <p:cNvSpPr/>
          <p:nvPr/>
        </p:nvSpPr>
        <p:spPr>
          <a:xfrm>
            <a:off x="13640050" y="4449725"/>
            <a:ext cx="488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b="0" i="0" lang="ru-RU" sz="24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детектор всегда активен, экономит энергию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e3b9a9254b_0_250"/>
          <p:cNvSpPr/>
          <p:nvPr/>
        </p:nvSpPr>
        <p:spPr>
          <a:xfrm>
            <a:off x="13640050" y="5368628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Стабилизатор с минимальным</a:t>
            </a:r>
            <a:r>
              <a:rPr b="1" i="0" lang="ru-RU" sz="2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ток</a:t>
            </a: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ом</a:t>
            </a:r>
            <a:r>
              <a:rPr b="1" i="0" lang="ru-RU" sz="2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покоя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e3b9a9254b_0_250"/>
          <p:cNvSpPr/>
          <p:nvPr/>
        </p:nvSpPr>
        <p:spPr>
          <a:xfrm>
            <a:off x="13640050" y="6113035"/>
            <a:ext cx="488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b="0" i="0" lang="ru-RU" sz="24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не «съедает» батарею во сне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e3b9a9254b_0_250"/>
          <p:cNvSpPr/>
          <p:nvPr/>
        </p:nvSpPr>
        <p:spPr>
          <a:xfrm>
            <a:off x="13640050" y="6654320"/>
            <a:ext cx="4887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Golos Text"/>
              <a:buNone/>
            </a:pPr>
            <a:r>
              <a:rPr b="1" lang="ru-RU" sz="240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Свои печатные платы</a:t>
            </a:r>
            <a:r>
              <a:rPr b="1" i="0" lang="ru-RU" sz="2400" u="none" cap="none" strike="noStrike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для тактирования и питания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e3b9a9254b_0_250"/>
          <p:cNvSpPr/>
          <p:nvPr/>
        </p:nvSpPr>
        <p:spPr>
          <a:xfrm>
            <a:off x="13631150" y="7438126"/>
            <a:ext cx="488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olos Text"/>
              <a:buNone/>
            </a:pPr>
            <a:r>
              <a:rPr b="0" i="0" lang="ru-RU" sz="2400" u="none" cap="none" strike="noStrike">
                <a:solidFill>
                  <a:srgbClr val="6B7280"/>
                </a:solidFill>
                <a:latin typeface="Golos Text"/>
                <a:ea typeface="Golos Text"/>
                <a:cs typeface="Golos Text"/>
                <a:sym typeface="Golos Text"/>
              </a:rPr>
              <a:t>оптимизация разводки и трасс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e3b9a9254b_0_250"/>
          <p:cNvSpPr/>
          <p:nvPr/>
        </p:nvSpPr>
        <p:spPr>
          <a:xfrm>
            <a:off x="12938170" y="8032200"/>
            <a:ext cx="5545800" cy="749700"/>
          </a:xfrm>
          <a:prstGeom prst="roundRect">
            <a:avLst>
              <a:gd fmla="val 12195" name="adj"/>
            </a:avLst>
          </a:prstGeom>
          <a:solidFill>
            <a:srgbClr val="F5F3FF"/>
          </a:solidFill>
          <a:ln cap="flat" cmpd="sng" w="152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13" name="Google Shape;513;g3e3b9a9254b_0_250"/>
          <p:cNvSpPr/>
          <p:nvPr/>
        </p:nvSpPr>
        <p:spPr>
          <a:xfrm>
            <a:off x="12938170" y="8032200"/>
            <a:ext cx="554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Golos Text"/>
              <a:buNone/>
            </a:pPr>
            <a:r>
              <a:rPr b="1" i="0" lang="ru-RU" sz="2400" u="none" cap="none" strike="noStrike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→  автономность </a:t>
            </a:r>
            <a:r>
              <a:rPr b="1" lang="ru-RU" sz="2400">
                <a:solidFill>
                  <a:srgbClr val="5B21B6"/>
                </a:solidFill>
                <a:latin typeface="Golos Text"/>
                <a:ea typeface="Golos Text"/>
                <a:cs typeface="Golos Text"/>
                <a:sym typeface="Golos Text"/>
              </a:rPr>
              <a:t>выше в 40 раз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3b9a9254b_0_250"/>
          <p:cNvSpPr/>
          <p:nvPr/>
        </p:nvSpPr>
        <p:spPr>
          <a:xfrm>
            <a:off x="12929679" y="3716762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e3b9a9254b_0_250"/>
          <p:cNvSpPr/>
          <p:nvPr/>
        </p:nvSpPr>
        <p:spPr>
          <a:xfrm>
            <a:off x="13004654" y="3783513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lang="ru-RU" sz="24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e3b9a9254b_0_250"/>
          <p:cNvSpPr/>
          <p:nvPr/>
        </p:nvSpPr>
        <p:spPr>
          <a:xfrm>
            <a:off x="12930579" y="5353666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e3b9a9254b_0_250"/>
          <p:cNvSpPr/>
          <p:nvPr/>
        </p:nvSpPr>
        <p:spPr>
          <a:xfrm>
            <a:off x="13005554" y="542041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lang="ru-RU" sz="24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e3b9a9254b_0_250"/>
          <p:cNvSpPr/>
          <p:nvPr/>
        </p:nvSpPr>
        <p:spPr>
          <a:xfrm>
            <a:off x="12932354" y="6683045"/>
            <a:ext cx="567000" cy="567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e3b9a9254b_0_250"/>
          <p:cNvSpPr/>
          <p:nvPr/>
        </p:nvSpPr>
        <p:spPr>
          <a:xfrm>
            <a:off x="13007329" y="6749796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los Text"/>
              <a:buNone/>
            </a:pPr>
            <a:r>
              <a:rPr b="1" lang="ru-RU" sz="24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e3b9a9254b_0_250"/>
          <p:cNvSpPr/>
          <p:nvPr/>
        </p:nvSpPr>
        <p:spPr>
          <a:xfrm>
            <a:off x="695300" y="8916996"/>
            <a:ext cx="17794500" cy="749700"/>
          </a:xfrm>
          <a:prstGeom prst="roundRect">
            <a:avLst>
              <a:gd fmla="val 7692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6700" lIns="96700" spcFirstLastPara="1" rIns="96700" wrap="square" tIns="9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e3b9a9254b_0_250"/>
          <p:cNvSpPr/>
          <p:nvPr/>
        </p:nvSpPr>
        <p:spPr>
          <a:xfrm>
            <a:off x="1178896" y="8916996"/>
            <a:ext cx="16827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4"/>
              <a:buFont typeface="Golos Text"/>
              <a:buNone/>
            </a:pPr>
            <a:r>
              <a:rPr b="1" i="0" lang="ru-RU" sz="2104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Каскадная архитектура + аппаратная оптимизация -</a:t>
            </a:r>
            <a:r>
              <a:rPr b="1" lang="ru-RU" sz="2104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&gt;</a:t>
            </a:r>
            <a:r>
              <a:rPr b="1" i="0" lang="ru-RU" sz="2104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почти 2 года автономии.  </a:t>
            </a:r>
            <a:endParaRPr b="1" i="0" sz="2104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522" name="Google Shape;522;g3e3b9a9254b_0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6" y="2218801"/>
            <a:ext cx="12791650" cy="634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3b9a9254b_0_257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Достижение цели и новизна</a:t>
            </a:r>
            <a:endParaRPr sz="6489"/>
          </a:p>
        </p:txBody>
      </p:sp>
      <p:sp>
        <p:nvSpPr>
          <p:cNvPr id="529" name="Google Shape;529;g3e3b9a9254b_0_257"/>
          <p:cNvSpPr txBox="1"/>
          <p:nvPr/>
        </p:nvSpPr>
        <p:spPr>
          <a:xfrm>
            <a:off x="17392449" y="9611400"/>
            <a:ext cx="12765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lang="ru-RU" sz="2433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14/15</a:t>
            </a:r>
            <a:endParaRPr sz="2433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t/>
            </a:r>
            <a:endParaRPr sz="2433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30" name="Google Shape;530;g3e3b9a9254b_0_257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g3e3b9a9254b_0_257"/>
          <p:cNvSpPr/>
          <p:nvPr/>
        </p:nvSpPr>
        <p:spPr>
          <a:xfrm>
            <a:off x="840105" y="2011680"/>
            <a:ext cx="93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2000"/>
              <a:buFont typeface="Calibri"/>
              <a:buNone/>
            </a:pPr>
            <a:r>
              <a:rPr b="1" i="0" lang="ru-RU" sz="2500" u="none" cap="none" strike="noStrike">
                <a:solidFill>
                  <a:srgbClr val="5A189A"/>
                </a:solidFill>
                <a:latin typeface="Golos Text"/>
                <a:ea typeface="Golos Text"/>
                <a:cs typeface="Golos Text"/>
                <a:sym typeface="Golos Text"/>
              </a:rPr>
              <a:t>КРИТЕРИИ ДОСТИЖИМОСТИ</a:t>
            </a:r>
            <a:endParaRPr b="1"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2" name="Google Shape;532;g3e3b9a9254b_0_257"/>
          <p:cNvSpPr/>
          <p:nvPr/>
        </p:nvSpPr>
        <p:spPr>
          <a:xfrm>
            <a:off x="840105" y="2743200"/>
            <a:ext cx="102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alibri"/>
              <a:buNone/>
            </a:pPr>
            <a:r>
              <a:rPr i="0" lang="ru-RU" sz="20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№</a:t>
            </a:r>
            <a:endParaRPr i="0" sz="20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33" name="Google Shape;533;g3e3b9a9254b_0_257"/>
          <p:cNvSpPr/>
          <p:nvPr/>
        </p:nvSpPr>
        <p:spPr>
          <a:xfrm>
            <a:off x="2053590" y="2743200"/>
            <a:ext cx="308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alibri"/>
              <a:buNone/>
            </a:pPr>
            <a:r>
              <a:rPr i="0" lang="ru-RU" sz="20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КРИТЕРИЙ</a:t>
            </a:r>
            <a:endParaRPr i="0" sz="20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34" name="Google Shape;534;g3e3b9a9254b_0_257"/>
          <p:cNvSpPr/>
          <p:nvPr/>
        </p:nvSpPr>
        <p:spPr>
          <a:xfrm>
            <a:off x="5320665" y="274320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alibri"/>
              <a:buNone/>
            </a:pPr>
            <a:r>
              <a:rPr i="0" lang="ru-RU" sz="20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ТРЕБ.</a:t>
            </a:r>
            <a:endParaRPr i="0" sz="20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35" name="Google Shape;535;g3e3b9a9254b_0_257"/>
          <p:cNvSpPr/>
          <p:nvPr/>
        </p:nvSpPr>
        <p:spPr>
          <a:xfrm>
            <a:off x="7747635" y="274320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alibri"/>
              <a:buNone/>
            </a:pPr>
            <a:r>
              <a:rPr i="0" lang="ru-RU" sz="20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РЕЗУЛЬТАТ</a:t>
            </a:r>
            <a:endParaRPr i="0" sz="20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36" name="Google Shape;536;g3e3b9a9254b_0_257"/>
          <p:cNvSpPr/>
          <p:nvPr/>
        </p:nvSpPr>
        <p:spPr>
          <a:xfrm>
            <a:off x="840105" y="3291840"/>
            <a:ext cx="1026600" cy="768000"/>
          </a:xfrm>
          <a:prstGeom prst="roundRect">
            <a:avLst>
              <a:gd fmla="val 14286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e3b9a9254b_0_257"/>
          <p:cNvSpPr/>
          <p:nvPr/>
        </p:nvSpPr>
        <p:spPr>
          <a:xfrm>
            <a:off x="840105" y="3291840"/>
            <a:ext cx="1026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C1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38" name="Google Shape;538;g3e3b9a9254b_0_257"/>
          <p:cNvSpPr/>
          <p:nvPr/>
        </p:nvSpPr>
        <p:spPr>
          <a:xfrm>
            <a:off x="2053590" y="3291840"/>
            <a:ext cx="308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Точность</a:t>
            </a:r>
            <a:endParaRPr i="0" sz="25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39" name="Google Shape;539;g3e3b9a9254b_0_257"/>
          <p:cNvSpPr/>
          <p:nvPr/>
        </p:nvSpPr>
        <p:spPr>
          <a:xfrm>
            <a:off x="5320665" y="3291840"/>
            <a:ext cx="224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≥ 90 %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40" name="Google Shape;540;g3e3b9a9254b_0_257"/>
          <p:cNvSpPr/>
          <p:nvPr/>
        </p:nvSpPr>
        <p:spPr>
          <a:xfrm>
            <a:off x="7747635" y="3291840"/>
            <a:ext cx="1493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5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D8C56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96,12 %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41" name="Google Shape;541;g3e3b9a9254b_0_257"/>
          <p:cNvSpPr/>
          <p:nvPr/>
        </p:nvSpPr>
        <p:spPr>
          <a:xfrm>
            <a:off x="9558528" y="3419856"/>
            <a:ext cx="522600" cy="511800"/>
          </a:xfrm>
          <a:prstGeom prst="ellipse">
            <a:avLst/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2" name="Google Shape;542;g3e3b9a9254b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0542" y="35295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3e3b9a9254b_0_257"/>
          <p:cNvSpPr/>
          <p:nvPr/>
        </p:nvSpPr>
        <p:spPr>
          <a:xfrm>
            <a:off x="840105" y="4133088"/>
            <a:ext cx="1026600" cy="768000"/>
          </a:xfrm>
          <a:prstGeom prst="roundRect">
            <a:avLst>
              <a:gd fmla="val 14286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e3b9a9254b_0_257"/>
          <p:cNvSpPr/>
          <p:nvPr/>
        </p:nvSpPr>
        <p:spPr>
          <a:xfrm>
            <a:off x="840105" y="4133088"/>
            <a:ext cx="1026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C2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45" name="Google Shape;545;g3e3b9a9254b_0_257"/>
          <p:cNvSpPr/>
          <p:nvPr/>
        </p:nvSpPr>
        <p:spPr>
          <a:xfrm>
            <a:off x="2053590" y="4133088"/>
            <a:ext cx="308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Размер модели</a:t>
            </a:r>
            <a:endParaRPr i="0" sz="25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46" name="Google Shape;546;g3e3b9a9254b_0_257"/>
          <p:cNvSpPr/>
          <p:nvPr/>
        </p:nvSpPr>
        <p:spPr>
          <a:xfrm>
            <a:off x="5320665" y="4133088"/>
            <a:ext cx="224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≤ 128 КБ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47" name="Google Shape;547;g3e3b9a9254b_0_257"/>
          <p:cNvSpPr/>
          <p:nvPr/>
        </p:nvSpPr>
        <p:spPr>
          <a:xfrm>
            <a:off x="7747635" y="4133088"/>
            <a:ext cx="1493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5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D8C56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101 КБ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48" name="Google Shape;548;g3e3b9a9254b_0_257"/>
          <p:cNvSpPr/>
          <p:nvPr/>
        </p:nvSpPr>
        <p:spPr>
          <a:xfrm>
            <a:off x="9558528" y="4261104"/>
            <a:ext cx="522600" cy="511800"/>
          </a:xfrm>
          <a:prstGeom prst="ellipse">
            <a:avLst/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9" name="Google Shape;549;g3e3b9a9254b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0542" y="43708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e3b9a9254b_0_257"/>
          <p:cNvSpPr/>
          <p:nvPr/>
        </p:nvSpPr>
        <p:spPr>
          <a:xfrm>
            <a:off x="840105" y="4974336"/>
            <a:ext cx="1026600" cy="768000"/>
          </a:xfrm>
          <a:prstGeom prst="roundRect">
            <a:avLst>
              <a:gd fmla="val 14286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e3b9a9254b_0_257"/>
          <p:cNvSpPr/>
          <p:nvPr/>
        </p:nvSpPr>
        <p:spPr>
          <a:xfrm>
            <a:off x="840105" y="4974336"/>
            <a:ext cx="1026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C3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52" name="Google Shape;552;g3e3b9a9254b_0_257"/>
          <p:cNvSpPr/>
          <p:nvPr/>
        </p:nvSpPr>
        <p:spPr>
          <a:xfrm>
            <a:off x="2053590" y="4974336"/>
            <a:ext cx="308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Потеря от квант.</a:t>
            </a:r>
            <a:endParaRPr i="0" sz="25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53" name="Google Shape;553;g3e3b9a9254b_0_257"/>
          <p:cNvSpPr/>
          <p:nvPr/>
        </p:nvSpPr>
        <p:spPr>
          <a:xfrm>
            <a:off x="5320665" y="4974336"/>
            <a:ext cx="224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≤ 1 п.п.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54" name="Google Shape;554;g3e3b9a9254b_0_257"/>
          <p:cNvSpPr/>
          <p:nvPr/>
        </p:nvSpPr>
        <p:spPr>
          <a:xfrm>
            <a:off x="7747635" y="4974336"/>
            <a:ext cx="1493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5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D8C56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−0,3 п.п.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55" name="Google Shape;555;g3e3b9a9254b_0_257"/>
          <p:cNvSpPr/>
          <p:nvPr/>
        </p:nvSpPr>
        <p:spPr>
          <a:xfrm>
            <a:off x="9558528" y="5102352"/>
            <a:ext cx="522600" cy="511800"/>
          </a:xfrm>
          <a:prstGeom prst="ellipse">
            <a:avLst/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6" name="Google Shape;556;g3e3b9a9254b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0542" y="5212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e3b9a9254b_0_257"/>
          <p:cNvSpPr/>
          <p:nvPr/>
        </p:nvSpPr>
        <p:spPr>
          <a:xfrm>
            <a:off x="840105" y="5815584"/>
            <a:ext cx="1026600" cy="768000"/>
          </a:xfrm>
          <a:prstGeom prst="roundRect">
            <a:avLst>
              <a:gd fmla="val 14286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e3b9a9254b_0_257"/>
          <p:cNvSpPr/>
          <p:nvPr/>
        </p:nvSpPr>
        <p:spPr>
          <a:xfrm>
            <a:off x="840105" y="5815584"/>
            <a:ext cx="1026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C4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59" name="Google Shape;559;g3e3b9a9254b_0_257"/>
          <p:cNvSpPr/>
          <p:nvPr/>
        </p:nvSpPr>
        <p:spPr>
          <a:xfrm>
            <a:off x="2053590" y="5815584"/>
            <a:ext cx="308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Латентность</a:t>
            </a:r>
            <a:endParaRPr i="0" sz="25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60" name="Google Shape;560;g3e3b9a9254b_0_257"/>
          <p:cNvSpPr/>
          <p:nvPr/>
        </p:nvSpPr>
        <p:spPr>
          <a:xfrm>
            <a:off x="5320665" y="5815584"/>
            <a:ext cx="224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≤ 500 мс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61" name="Google Shape;561;g3e3b9a9254b_0_257"/>
          <p:cNvSpPr/>
          <p:nvPr/>
        </p:nvSpPr>
        <p:spPr>
          <a:xfrm>
            <a:off x="7747635" y="5815584"/>
            <a:ext cx="1493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5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D8C56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460 мс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62" name="Google Shape;562;g3e3b9a9254b_0_257"/>
          <p:cNvSpPr/>
          <p:nvPr/>
        </p:nvSpPr>
        <p:spPr>
          <a:xfrm>
            <a:off x="9558528" y="5943600"/>
            <a:ext cx="522600" cy="511800"/>
          </a:xfrm>
          <a:prstGeom prst="ellipse">
            <a:avLst/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3" name="Google Shape;563;g3e3b9a9254b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0542" y="60533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e3b9a9254b_0_257"/>
          <p:cNvSpPr/>
          <p:nvPr/>
        </p:nvSpPr>
        <p:spPr>
          <a:xfrm>
            <a:off x="840105" y="6656832"/>
            <a:ext cx="1026600" cy="768000"/>
          </a:xfrm>
          <a:prstGeom prst="roundRect">
            <a:avLst>
              <a:gd fmla="val 14286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e3b9a9254b_0_257"/>
          <p:cNvSpPr/>
          <p:nvPr/>
        </p:nvSpPr>
        <p:spPr>
          <a:xfrm>
            <a:off x="840105" y="6656832"/>
            <a:ext cx="1026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C5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66" name="Google Shape;566;g3e3b9a9254b_0_257"/>
          <p:cNvSpPr/>
          <p:nvPr/>
        </p:nvSpPr>
        <p:spPr>
          <a:xfrm>
            <a:off x="2053590" y="6656832"/>
            <a:ext cx="308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Calibri"/>
              <a:buNone/>
            </a:pPr>
            <a:r>
              <a:rPr i="0" lang="ru-RU" sz="25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Снижение мощности</a:t>
            </a:r>
            <a:endParaRPr i="0" sz="25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67" name="Google Shape;567;g3e3b9a9254b_0_257"/>
          <p:cNvSpPr/>
          <p:nvPr/>
        </p:nvSpPr>
        <p:spPr>
          <a:xfrm>
            <a:off x="5320665" y="6656832"/>
            <a:ext cx="2240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≥ ×</a:t>
            </a:r>
            <a:r>
              <a:rPr lang="ru-RU" sz="2400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100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68" name="Google Shape;568;g3e3b9a9254b_0_257"/>
          <p:cNvSpPr/>
          <p:nvPr/>
        </p:nvSpPr>
        <p:spPr>
          <a:xfrm>
            <a:off x="7747635" y="6656832"/>
            <a:ext cx="14934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C56"/>
              </a:buClr>
              <a:buSzPts val="2600"/>
              <a:buFont typeface="Calibri"/>
              <a:buNone/>
            </a:pPr>
            <a:r>
              <a:rPr i="0" lang="ru-RU" sz="2600" u="none" cap="none" strike="noStrike">
                <a:solidFill>
                  <a:srgbClr val="2D8C56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×</a:t>
            </a:r>
            <a:r>
              <a:rPr lang="ru-RU" sz="2600">
                <a:solidFill>
                  <a:srgbClr val="2D8C56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530</a:t>
            </a:r>
            <a:endParaRPr i="0" sz="26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69" name="Google Shape;569;g3e3b9a9254b_0_257"/>
          <p:cNvSpPr/>
          <p:nvPr/>
        </p:nvSpPr>
        <p:spPr>
          <a:xfrm>
            <a:off x="9558528" y="6784848"/>
            <a:ext cx="522600" cy="511800"/>
          </a:xfrm>
          <a:prstGeom prst="ellipse">
            <a:avLst/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0" name="Google Shape;570;g3e3b9a9254b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0542" y="68945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3e3b9a9254b_0_257"/>
          <p:cNvSpPr/>
          <p:nvPr/>
        </p:nvSpPr>
        <p:spPr>
          <a:xfrm>
            <a:off x="10547985" y="2011680"/>
            <a:ext cx="728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189A"/>
              </a:buClr>
              <a:buSzPts val="2000"/>
              <a:buFont typeface="Calibri"/>
              <a:buNone/>
            </a:pPr>
            <a:r>
              <a:rPr b="1" i="0" lang="ru-RU" sz="2500" u="none" cap="none" strike="noStrike">
                <a:solidFill>
                  <a:srgbClr val="5A189A"/>
                </a:solidFill>
                <a:latin typeface="Golos Text"/>
                <a:ea typeface="Golos Text"/>
                <a:cs typeface="Golos Text"/>
                <a:sym typeface="Golos Text"/>
              </a:rPr>
              <a:t>НАУЧНАЯ НОВИЗНА</a:t>
            </a:r>
            <a:endParaRPr b="1" i="0" sz="25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2" name="Google Shape;572;g3e3b9a9254b_0_257"/>
          <p:cNvSpPr/>
          <p:nvPr/>
        </p:nvSpPr>
        <p:spPr>
          <a:xfrm>
            <a:off x="10547985" y="2834640"/>
            <a:ext cx="746700" cy="7314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e3b9a9254b_0_257"/>
          <p:cNvSpPr/>
          <p:nvPr/>
        </p:nvSpPr>
        <p:spPr>
          <a:xfrm>
            <a:off x="10547985" y="2834640"/>
            <a:ext cx="74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1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74" name="Google Shape;574;g3e3b9a9254b_0_257"/>
          <p:cNvSpPr/>
          <p:nvPr/>
        </p:nvSpPr>
        <p:spPr>
          <a:xfrm>
            <a:off x="11574780" y="2743200"/>
            <a:ext cx="625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300"/>
              <a:buFont typeface="Calibri"/>
              <a:buNone/>
            </a:pPr>
            <a:r>
              <a:rPr i="0" lang="ru-RU" sz="24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Систематическое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300"/>
              <a:buFont typeface="Calibri"/>
              <a:buNone/>
            </a:pPr>
            <a:r>
              <a:rPr i="0" lang="ru-RU" sz="24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исследование архитектур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75" name="Google Shape;575;g3e3b9a9254b_0_257"/>
          <p:cNvSpPr/>
          <p:nvPr/>
        </p:nvSpPr>
        <p:spPr>
          <a:xfrm>
            <a:off x="11574780" y="3595480"/>
            <a:ext cx="625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Calibri"/>
              <a:buNone/>
            </a:pPr>
            <a:r>
              <a:rPr i="0" lang="ru-RU" sz="22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134 модели, 239 точек,</a:t>
            </a:r>
            <a:endParaRPr i="0" sz="2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Calibri"/>
              <a:buNone/>
            </a:pPr>
            <a:r>
              <a:rPr i="0" lang="ru-RU" sz="22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доверит. интервал Уилсона</a:t>
            </a:r>
            <a:endParaRPr i="0" sz="2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76" name="Google Shape;576;g3e3b9a9254b_0_257"/>
          <p:cNvSpPr/>
          <p:nvPr/>
        </p:nvSpPr>
        <p:spPr>
          <a:xfrm>
            <a:off x="10547985" y="4663440"/>
            <a:ext cx="746700" cy="7314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e3b9a9254b_0_257"/>
          <p:cNvSpPr/>
          <p:nvPr/>
        </p:nvSpPr>
        <p:spPr>
          <a:xfrm>
            <a:off x="10547985" y="4663440"/>
            <a:ext cx="74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2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78" name="Google Shape;578;g3e3b9a9254b_0_257"/>
          <p:cNvSpPr/>
          <p:nvPr/>
        </p:nvSpPr>
        <p:spPr>
          <a:xfrm>
            <a:off x="11574780" y="4572000"/>
            <a:ext cx="625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300"/>
              <a:buFont typeface="Calibri"/>
              <a:buNone/>
            </a:pPr>
            <a:r>
              <a:rPr i="0" lang="ru-RU" sz="24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Декомпозиция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300"/>
              <a:buFont typeface="Calibri"/>
              <a:buNone/>
            </a:pPr>
            <a:r>
              <a:rPr i="0" lang="ru-RU" sz="24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энергобюджета каскада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79" name="Google Shape;579;g3e3b9a9254b_0_257"/>
          <p:cNvSpPr/>
          <p:nvPr/>
        </p:nvSpPr>
        <p:spPr>
          <a:xfrm>
            <a:off x="11574780" y="5424280"/>
            <a:ext cx="625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Calibri"/>
              <a:buNone/>
            </a:pPr>
            <a:r>
              <a:rPr i="0" lang="ru-RU" sz="22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выявлен доминирующий</a:t>
            </a:r>
            <a:endParaRPr i="0" sz="2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Calibri"/>
              <a:buNone/>
            </a:pPr>
            <a:r>
              <a:rPr i="0" lang="ru-RU" sz="22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вклад сервисных этапов</a:t>
            </a:r>
            <a:endParaRPr i="0" sz="2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80" name="Google Shape;580;g3e3b9a9254b_0_257"/>
          <p:cNvSpPr/>
          <p:nvPr/>
        </p:nvSpPr>
        <p:spPr>
          <a:xfrm>
            <a:off x="10547985" y="6492240"/>
            <a:ext cx="746700" cy="7314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e3b9a9254b_0_257"/>
          <p:cNvSpPr/>
          <p:nvPr/>
        </p:nvSpPr>
        <p:spPr>
          <a:xfrm>
            <a:off x="10547985" y="6492240"/>
            <a:ext cx="74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i="0" lang="ru-RU" sz="28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3</a:t>
            </a:r>
            <a:endParaRPr i="0" sz="28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82" name="Google Shape;582;g3e3b9a9254b_0_257"/>
          <p:cNvSpPr/>
          <p:nvPr/>
        </p:nvSpPr>
        <p:spPr>
          <a:xfrm>
            <a:off x="11574780" y="6400800"/>
            <a:ext cx="625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300"/>
              <a:buFont typeface="Calibri"/>
              <a:buNone/>
            </a:pPr>
            <a:r>
              <a:rPr i="0" lang="ru-RU" sz="24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Сравнение PTQ vs QAT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300"/>
              <a:buFont typeface="Calibri"/>
              <a:buNone/>
            </a:pPr>
            <a:r>
              <a:rPr i="0" lang="ru-RU" sz="2400" u="none" cap="none" strike="noStrike">
                <a:solidFill>
                  <a:srgbClr val="0F0F0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 большой выборке</a:t>
            </a:r>
            <a:endParaRPr i="0" sz="24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83" name="Google Shape;583;g3e3b9a9254b_0_257"/>
          <p:cNvSpPr/>
          <p:nvPr/>
        </p:nvSpPr>
        <p:spPr>
          <a:xfrm>
            <a:off x="11574780" y="7253080"/>
            <a:ext cx="625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Calibri"/>
              <a:buNone/>
            </a:pPr>
            <a:r>
              <a:rPr i="0" lang="ru-RU" sz="22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PTQ ≈ QAT для INT8 —</a:t>
            </a:r>
            <a:endParaRPr i="0" sz="2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Calibri"/>
              <a:buNone/>
            </a:pPr>
            <a:r>
              <a:rPr i="0" lang="ru-RU" sz="2200" u="none" cap="none" strike="noStrike">
                <a:solidFill>
                  <a:srgbClr val="6B6B6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статистическое подтверждение</a:t>
            </a:r>
            <a:endParaRPr i="0" sz="2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584" name="Google Shape;584;g3e3b9a9254b_0_257"/>
          <p:cNvSpPr/>
          <p:nvPr/>
        </p:nvSpPr>
        <p:spPr>
          <a:xfrm>
            <a:off x="840105" y="8491387"/>
            <a:ext cx="16989000" cy="1005600"/>
          </a:xfrm>
          <a:prstGeom prst="rect">
            <a:avLst/>
          </a:prstGeom>
          <a:solidFill>
            <a:srgbClr val="2D8C56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e3b9a9254b_0_257"/>
          <p:cNvSpPr/>
          <p:nvPr/>
        </p:nvSpPr>
        <p:spPr>
          <a:xfrm>
            <a:off x="1213485" y="8701699"/>
            <a:ext cx="597300" cy="58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6" name="Google Shape;586;g3e3b9a9254b_0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4168" y="8829715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3e3b9a9254b_0_257"/>
          <p:cNvSpPr/>
          <p:nvPr/>
        </p:nvSpPr>
        <p:spPr>
          <a:xfrm>
            <a:off x="839824" y="8491375"/>
            <a:ext cx="16989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libri"/>
              <a:buNone/>
            </a:pPr>
            <a:r>
              <a:rPr i="0" lang="ru-RU" sz="37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ЦЕЛЬ РАБОТЫ ДОСТИГНУТА</a:t>
            </a:r>
            <a:endParaRPr i="0" sz="37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3b9a9254b_0_154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Перспективы</a:t>
            </a:r>
            <a:endParaRPr sz="6489"/>
          </a:p>
        </p:txBody>
      </p:sp>
      <p:sp>
        <p:nvSpPr>
          <p:cNvPr id="594" name="Google Shape;594;g3e3b9a9254b_0_154"/>
          <p:cNvSpPr txBox="1"/>
          <p:nvPr/>
        </p:nvSpPr>
        <p:spPr>
          <a:xfrm>
            <a:off x="17455451" y="9611400"/>
            <a:ext cx="12135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15/15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95" name="Google Shape;595;g3e3b9a9254b_0_154"/>
          <p:cNvCxnSpPr/>
          <p:nvPr/>
        </p:nvCxnSpPr>
        <p:spPr>
          <a:xfrm>
            <a:off x="840105" y="1737360"/>
            <a:ext cx="16989000" cy="0"/>
          </a:xfrm>
          <a:prstGeom prst="straightConnector1">
            <a:avLst/>
          </a:prstGeom>
          <a:noFill/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g3e3b9a9254b_0_154"/>
          <p:cNvSpPr/>
          <p:nvPr/>
        </p:nvSpPr>
        <p:spPr>
          <a:xfrm>
            <a:off x="840105" y="2103120"/>
            <a:ext cx="8214300" cy="3383400"/>
          </a:xfrm>
          <a:prstGeom prst="rect">
            <a:avLst/>
          </a:prstGeom>
          <a:solidFill>
            <a:srgbClr val="FAFAFA"/>
          </a:solidFill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e3b9a9254b_0_154"/>
          <p:cNvSpPr/>
          <p:nvPr/>
        </p:nvSpPr>
        <p:spPr>
          <a:xfrm>
            <a:off x="840105" y="2103120"/>
            <a:ext cx="167700" cy="33834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e3b9a9254b_0_154"/>
          <p:cNvSpPr/>
          <p:nvPr/>
        </p:nvSpPr>
        <p:spPr>
          <a:xfrm>
            <a:off x="1400175" y="2651760"/>
            <a:ext cx="1213500" cy="11886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9" name="Google Shape;599;g3e3b9a9254b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545" y="2935224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e3b9a9254b_0_154"/>
          <p:cNvSpPr/>
          <p:nvPr/>
        </p:nvSpPr>
        <p:spPr>
          <a:xfrm>
            <a:off x="2893695" y="2651760"/>
            <a:ext cx="5787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Сокращение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инициализации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601" name="Google Shape;601;g3e3b9a9254b_0_154"/>
          <p:cNvSpPr/>
          <p:nvPr/>
        </p:nvSpPr>
        <p:spPr>
          <a:xfrm>
            <a:off x="6254115" y="2560320"/>
            <a:ext cx="2426700" cy="548400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e3b9a9254b_0_154"/>
          <p:cNvSpPr/>
          <p:nvPr/>
        </p:nvSpPr>
        <p:spPr>
          <a:xfrm>
            <a:off x="6254115" y="2560320"/>
            <a:ext cx="2426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ru-RU" sz="22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приоритет №1</a:t>
            </a:r>
            <a:endParaRPr i="0" sz="2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603" name="Google Shape;603;g3e3b9a9254b_0_154"/>
          <p:cNvSpPr/>
          <p:nvPr/>
        </p:nvSpPr>
        <p:spPr>
          <a:xfrm>
            <a:off x="1400175" y="4206240"/>
            <a:ext cx="7280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RTC SRAM, </a:t>
            </a:r>
            <a:r>
              <a:rPr lang="ru-RU" sz="2400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light sleep</a:t>
            </a: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, перенос инициализации на ULP-сопроцессор </a:t>
            </a:r>
            <a:r>
              <a:rPr lang="ru-RU" sz="2400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-&gt;</a:t>
            </a: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 35 % бюджета цикла</a:t>
            </a:r>
            <a:endParaRPr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04" name="Google Shape;604;g3e3b9a9254b_0_154"/>
          <p:cNvSpPr/>
          <p:nvPr/>
        </p:nvSpPr>
        <p:spPr>
          <a:xfrm>
            <a:off x="9614535" y="2103120"/>
            <a:ext cx="8214300" cy="3383400"/>
          </a:xfrm>
          <a:prstGeom prst="rect">
            <a:avLst/>
          </a:prstGeom>
          <a:solidFill>
            <a:srgbClr val="FAFAFA"/>
          </a:solidFill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e3b9a9254b_0_154"/>
          <p:cNvSpPr/>
          <p:nvPr/>
        </p:nvSpPr>
        <p:spPr>
          <a:xfrm>
            <a:off x="9614535" y="2103120"/>
            <a:ext cx="167700" cy="33834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e3b9a9254b_0_154"/>
          <p:cNvSpPr/>
          <p:nvPr/>
        </p:nvSpPr>
        <p:spPr>
          <a:xfrm>
            <a:off x="10174605" y="2651760"/>
            <a:ext cx="1213500" cy="11886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7" name="Google Shape;607;g3e3b9a9254b_0_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3975" y="2935224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e3b9a9254b_0_154"/>
          <p:cNvSpPr/>
          <p:nvPr/>
        </p:nvSpPr>
        <p:spPr>
          <a:xfrm>
            <a:off x="11668125" y="2651760"/>
            <a:ext cx="5787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Промышленная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плата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609" name="Google Shape;609;g3e3b9a9254b_0_154"/>
          <p:cNvSpPr/>
          <p:nvPr/>
        </p:nvSpPr>
        <p:spPr>
          <a:xfrm>
            <a:off x="10174605" y="4206240"/>
            <a:ext cx="7280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lang="ru-RU" sz="2400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Регулятор</a:t>
            </a: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 ультранизкого тока покоя, </a:t>
            </a:r>
            <a:endParaRPr i="0" sz="2400" u="none" cap="none" strike="noStrike">
              <a:solidFill>
                <a:srgbClr val="262626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MEMS wake-on-sound микрофон вместо LM393 </a:t>
            </a:r>
            <a:endParaRPr i="0" sz="2400" u="none" cap="none" strike="noStrike">
              <a:solidFill>
                <a:srgbClr val="262626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→ автономность </a:t>
            </a:r>
            <a:r>
              <a:rPr lang="ru-RU" sz="2400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на</a:t>
            </a: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 годы</a:t>
            </a:r>
            <a:endParaRPr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10" name="Google Shape;610;g3e3b9a9254b_0_154"/>
          <p:cNvSpPr/>
          <p:nvPr/>
        </p:nvSpPr>
        <p:spPr>
          <a:xfrm>
            <a:off x="840105" y="6035040"/>
            <a:ext cx="8214300" cy="3383400"/>
          </a:xfrm>
          <a:prstGeom prst="rect">
            <a:avLst/>
          </a:prstGeom>
          <a:solidFill>
            <a:srgbClr val="FAFAFA"/>
          </a:solidFill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e3b9a9254b_0_154"/>
          <p:cNvSpPr/>
          <p:nvPr/>
        </p:nvSpPr>
        <p:spPr>
          <a:xfrm>
            <a:off x="840105" y="6035040"/>
            <a:ext cx="167700" cy="33834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e3b9a9254b_0_154"/>
          <p:cNvSpPr/>
          <p:nvPr/>
        </p:nvSpPr>
        <p:spPr>
          <a:xfrm>
            <a:off x="1400175" y="6583680"/>
            <a:ext cx="1213500" cy="11886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3" name="Google Shape;613;g3e3b9a9254b_0_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9545" y="6867144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g3e3b9a9254b_0_154"/>
          <p:cNvSpPr/>
          <p:nvPr/>
        </p:nvSpPr>
        <p:spPr>
          <a:xfrm>
            <a:off x="2893695" y="6583680"/>
            <a:ext cx="5787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Дистилляция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знаний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615" name="Google Shape;615;g3e3b9a9254b_0_154"/>
          <p:cNvSpPr/>
          <p:nvPr/>
        </p:nvSpPr>
        <p:spPr>
          <a:xfrm>
            <a:off x="1400175" y="8138160"/>
            <a:ext cx="7280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уменьшение модели при сохранении точности, дополнительная экономия энергии инференса</a:t>
            </a:r>
            <a:endParaRPr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16" name="Google Shape;616;g3e3b9a9254b_0_154"/>
          <p:cNvSpPr/>
          <p:nvPr/>
        </p:nvSpPr>
        <p:spPr>
          <a:xfrm>
            <a:off x="9614535" y="6035040"/>
            <a:ext cx="8214300" cy="3383400"/>
          </a:xfrm>
          <a:prstGeom prst="rect">
            <a:avLst/>
          </a:prstGeom>
          <a:solidFill>
            <a:srgbClr val="FAFAFA"/>
          </a:solidFill>
          <a:ln cap="flat" cmpd="sng" w="193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e3b9a9254b_0_154"/>
          <p:cNvSpPr/>
          <p:nvPr/>
        </p:nvSpPr>
        <p:spPr>
          <a:xfrm>
            <a:off x="9614535" y="6035040"/>
            <a:ext cx="167700" cy="33834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e3b9a9254b_0_154"/>
          <p:cNvSpPr/>
          <p:nvPr/>
        </p:nvSpPr>
        <p:spPr>
          <a:xfrm>
            <a:off x="10174605" y="6583680"/>
            <a:ext cx="1213500" cy="11886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185400" lIns="185400" spcFirstLastPara="1" rIns="185400" wrap="square" tIns="18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9" name="Google Shape;619;g3e3b9a9254b_0_1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63975" y="6867144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e3b9a9254b_0_154"/>
          <p:cNvSpPr/>
          <p:nvPr/>
        </p:nvSpPr>
        <p:spPr>
          <a:xfrm>
            <a:off x="11668125" y="6583680"/>
            <a:ext cx="5787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Верификация на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3000"/>
              <a:buFont typeface="Calibri"/>
              <a:buNone/>
            </a:pPr>
            <a:r>
              <a:rPr i="0" lang="ru-RU" sz="3200" u="none" cap="none" strike="noStrike">
                <a:solidFill>
                  <a:srgbClr val="0F0F0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других платформах</a:t>
            </a:r>
            <a:endParaRPr i="0" sz="3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621" name="Google Shape;621;g3e3b9a9254b_0_154"/>
          <p:cNvSpPr/>
          <p:nvPr/>
        </p:nvSpPr>
        <p:spPr>
          <a:xfrm>
            <a:off x="10174605" y="8138160"/>
            <a:ext cx="7280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i="0" lang="ru-RU" sz="2400" u="none" cap="none" strike="noStrike">
                <a:solidFill>
                  <a:srgbClr val="262626"/>
                </a:solidFill>
                <a:latin typeface="Golos Text"/>
                <a:ea typeface="Golos Text"/>
                <a:cs typeface="Golos Text"/>
                <a:sym typeface="Golos Text"/>
              </a:rPr>
              <a:t>STM32U5, nRF52840 — подтверждение переносимости методики</a:t>
            </a:r>
            <a:endParaRPr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 txBox="1"/>
          <p:nvPr>
            <p:ph type="title"/>
          </p:nvPr>
        </p:nvSpPr>
        <p:spPr>
          <a:xfrm>
            <a:off x="933450" y="3603626"/>
            <a:ext cx="168021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675" lIns="185400" spcFirstLastPara="1" rIns="185400" wrap="square" tIns="92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22"/>
              <a:buFont typeface="Golos Text SemiBold"/>
              <a:buNone/>
            </a:pPr>
            <a:r>
              <a:rPr lang="ru-RU" sz="8922"/>
              <a:t>Спасибо</a:t>
            </a:r>
            <a:br>
              <a:rPr lang="ru-RU" sz="8922"/>
            </a:br>
            <a:r>
              <a:rPr lang="ru-RU" sz="8922"/>
              <a:t>за внимание!</a:t>
            </a:r>
            <a:endParaRPr sz="8922"/>
          </a:p>
        </p:txBody>
      </p:sp>
      <p:sp>
        <p:nvSpPr>
          <p:cNvPr id="627" name="Google Shape;627;p12"/>
          <p:cNvSpPr txBox="1"/>
          <p:nvPr/>
        </p:nvSpPr>
        <p:spPr>
          <a:xfrm>
            <a:off x="10625293" y="8530750"/>
            <a:ext cx="74688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675" lIns="185400" spcFirstLastPara="1" rIns="185400" wrap="square" tIns="92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0" i="0" lang="ru-RU" sz="365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tg: @worthant</a:t>
            </a:r>
            <a:endParaRPr b="0" i="0" sz="365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rPr b="0" i="0" lang="ru-RU" sz="365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mail: boris0indeed@gmail.com</a:t>
            </a:r>
            <a:endParaRPr b="0" i="0" sz="28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3b9a9254b_0_319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Препроцессинг аудио</a:t>
            </a:r>
            <a:endParaRPr sz="6489"/>
          </a:p>
        </p:txBody>
      </p:sp>
      <p:sp>
        <p:nvSpPr>
          <p:cNvPr id="634" name="Google Shape;634;g3e3b9a9254b_0_319"/>
          <p:cNvSpPr txBox="1"/>
          <p:nvPr/>
        </p:nvSpPr>
        <p:spPr>
          <a:xfrm>
            <a:off x="17927262" y="9611400"/>
            <a:ext cx="741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35" name="Google Shape;635;g3e3b9a9254b_0_319" title="mfcc_words_improved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999" y="6559150"/>
            <a:ext cx="14014899" cy="357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g3e3b9a9254b_0_319" title="feature_pipeline_improv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050" y="1971252"/>
            <a:ext cx="16993802" cy="4356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e3b9a9254b_0_328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Конвейер обучения моделей</a:t>
            </a:r>
            <a:endParaRPr sz="6489"/>
          </a:p>
        </p:txBody>
      </p:sp>
      <p:sp>
        <p:nvSpPr>
          <p:cNvPr id="643" name="Google Shape;643;g3e3b9a9254b_0_328"/>
          <p:cNvSpPr txBox="1"/>
          <p:nvPr/>
        </p:nvSpPr>
        <p:spPr>
          <a:xfrm>
            <a:off x="17927262" y="9611400"/>
            <a:ext cx="741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44" name="Google Shape;644;g3e3b9a9254b_0_328" title="training_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813" y="1758130"/>
            <a:ext cx="8055366" cy="839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e3b9a9254b_0_282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Компонентная диаграмма ПО</a:t>
            </a:r>
            <a:endParaRPr sz="6489"/>
          </a:p>
        </p:txBody>
      </p:sp>
      <p:sp>
        <p:nvSpPr>
          <p:cNvPr id="651" name="Google Shape;651;g3e3b9a9254b_0_282"/>
          <p:cNvSpPr txBox="1"/>
          <p:nvPr/>
        </p:nvSpPr>
        <p:spPr>
          <a:xfrm>
            <a:off x="17927262" y="9611400"/>
            <a:ext cx="741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52" name="Google Shape;652;g3e3b9a9254b_0_282" title="software_c4_component_diagram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025" y="1590855"/>
            <a:ext cx="13436652" cy="839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e3b9a9254b_0_298"/>
          <p:cNvSpPr txBox="1"/>
          <p:nvPr/>
        </p:nvSpPr>
        <p:spPr>
          <a:xfrm>
            <a:off x="17927262" y="9611400"/>
            <a:ext cx="741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59" name="Google Shape;659;g3e3b9a9254b_0_298" title="layer_decomp_A_by_type_p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25" y="1895655"/>
            <a:ext cx="17536200" cy="839134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e3b9a9254b_0_298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Послойное профилирование инференса</a:t>
            </a:r>
            <a:endParaRPr sz="6489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e3b9a9254b_0_311"/>
          <p:cNvSpPr txBox="1"/>
          <p:nvPr/>
        </p:nvSpPr>
        <p:spPr>
          <a:xfrm>
            <a:off x="17927262" y="9611400"/>
            <a:ext cx="741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67" name="Google Shape;667;g3e3b9a9254b_0_311" title="layer_decomp_A_by_type_m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95655"/>
            <a:ext cx="17237187" cy="839134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3e3b9a9254b_0_311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Послойное профилирование инференса</a:t>
            </a:r>
            <a:endParaRPr sz="6489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d829d56da7_0_275"/>
          <p:cNvSpPr txBox="1"/>
          <p:nvPr>
            <p:ph type="title"/>
          </p:nvPr>
        </p:nvSpPr>
        <p:spPr>
          <a:xfrm>
            <a:off x="933450" y="612870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Потребление отладочной платы</a:t>
            </a:r>
            <a:endParaRPr sz="6489"/>
          </a:p>
        </p:txBody>
      </p:sp>
      <p:pic>
        <p:nvPicPr>
          <p:cNvPr id="675" name="Google Shape;675;g3d829d56da7_0_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185195"/>
            <a:ext cx="12058650" cy="79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g3d829d56da7_0_275"/>
          <p:cNvSpPr/>
          <p:nvPr/>
        </p:nvSpPr>
        <p:spPr>
          <a:xfrm>
            <a:off x="9935375" y="5418150"/>
            <a:ext cx="1349400" cy="12699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77" name="Google Shape;677;g3d829d56da7_0_275"/>
          <p:cNvSpPr/>
          <p:nvPr/>
        </p:nvSpPr>
        <p:spPr>
          <a:xfrm>
            <a:off x="11284775" y="5607750"/>
            <a:ext cx="2238300" cy="8907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78" name="Google Shape;678;g3d829d56da7_0_275"/>
          <p:cNvSpPr txBox="1"/>
          <p:nvPr/>
        </p:nvSpPr>
        <p:spPr>
          <a:xfrm>
            <a:off x="13777125" y="5607750"/>
            <a:ext cx="3540000" cy="20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6"/>
              <a:buFont typeface="Arial"/>
              <a:buNone/>
            </a:pPr>
            <a:r>
              <a:rPr b="0" i="0" lang="ru-RU" sz="4056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inefficient ldo :(</a:t>
            </a:r>
            <a:endParaRPr b="0" i="0" sz="4056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6"/>
              <a:buFont typeface="Arial"/>
              <a:buNone/>
            </a:pPr>
            <a:r>
              <a:rPr b="0" i="0" lang="ru-RU" sz="4056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(~0.15ma)</a:t>
            </a:r>
            <a:endParaRPr b="0" i="0" sz="4056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79" name="Google Shape;679;g3d829d56da7_0_275"/>
          <p:cNvSpPr/>
          <p:nvPr/>
        </p:nvSpPr>
        <p:spPr>
          <a:xfrm>
            <a:off x="3833025" y="3322650"/>
            <a:ext cx="1736700" cy="16287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80" name="Google Shape;680;g3d829d56da7_0_275"/>
          <p:cNvSpPr txBox="1"/>
          <p:nvPr/>
        </p:nvSpPr>
        <p:spPr>
          <a:xfrm>
            <a:off x="13119900" y="2800950"/>
            <a:ext cx="53721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6"/>
              <a:buFont typeface="Golos Text"/>
              <a:buChar char="+"/>
            </a:pPr>
            <a:r>
              <a:rPr b="0" i="0" lang="ru-RU" sz="4056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usb phy программно не отключается(</a:t>
            </a:r>
            <a:endParaRPr b="0" i="0" sz="4056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81" name="Google Shape;681;g3d829d56da7_0_275"/>
          <p:cNvSpPr/>
          <p:nvPr/>
        </p:nvSpPr>
        <p:spPr>
          <a:xfrm>
            <a:off x="8684425" y="2689832"/>
            <a:ext cx="3282900" cy="25626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e3b9a9254b_0_276"/>
          <p:cNvSpPr txBox="1"/>
          <p:nvPr>
            <p:ph type="title"/>
          </p:nvPr>
        </p:nvSpPr>
        <p:spPr>
          <a:xfrm>
            <a:off x="933450" y="536055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Структура ошибок</a:t>
            </a:r>
            <a:endParaRPr sz="6489"/>
          </a:p>
        </p:txBody>
      </p:sp>
      <p:sp>
        <p:nvSpPr>
          <p:cNvPr id="688" name="Google Shape;688;g3e3b9a9254b_0_276"/>
          <p:cNvSpPr txBox="1"/>
          <p:nvPr/>
        </p:nvSpPr>
        <p:spPr>
          <a:xfrm>
            <a:off x="17927262" y="9611400"/>
            <a:ext cx="741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400" lIns="185400" spcFirstLastPara="1" rIns="185400" wrap="square" tIns="18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3"/>
              <a:buFont typeface="Arial"/>
              <a:buNone/>
            </a:pPr>
            <a:r>
              <a:rPr b="0" i="0" lang="ru-RU" sz="2433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</a:t>
            </a:r>
            <a:endParaRPr b="0" i="0" sz="2433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89" name="Google Shape;689;g3e3b9a9254b_0_276" title="cm_pt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98826"/>
            <a:ext cx="9390701" cy="751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g3e3b9a9254b_0_276" title="cm_qa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5900" y="2098825"/>
            <a:ext cx="9390701" cy="7512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d829d56da7_0_190"/>
          <p:cNvSpPr txBox="1"/>
          <p:nvPr>
            <p:ph type="title"/>
          </p:nvPr>
        </p:nvSpPr>
        <p:spPr>
          <a:xfrm>
            <a:off x="933450" y="612870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Размещение компонентов на тестовом стенде</a:t>
            </a:r>
            <a:endParaRPr sz="6489"/>
          </a:p>
        </p:txBody>
      </p:sp>
      <p:pic>
        <p:nvPicPr>
          <p:cNvPr id="697" name="Google Shape;697;g3d829d56da7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725" y="2096595"/>
            <a:ext cx="10525125" cy="81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3d829d56da7_0_190"/>
          <p:cNvSpPr txBox="1"/>
          <p:nvPr/>
        </p:nvSpPr>
        <p:spPr>
          <a:xfrm>
            <a:off x="12057575" y="1667675"/>
            <a:ext cx="6114300" cy="85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Char char="●"/>
            </a:pPr>
            <a:r>
              <a:rPr b="0" i="0" lang="ru-RU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inmp441 - i2s mems-микрофон</a:t>
            </a:r>
            <a:endParaRPr b="0"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Char char="●"/>
            </a:pPr>
            <a:r>
              <a:rPr b="0" i="0" lang="ru-RU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ina228 - цифровой “мультиметр”</a:t>
            </a:r>
            <a:endParaRPr b="0"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Char char="●"/>
            </a:pPr>
            <a:r>
              <a:rPr b="0" i="0" lang="ru-RU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esp32-s3-zero - отладочная плата для удобной работы с чипом esp32-s3 (usb phy, кнопки reset/boot, монтажные ножки)</a:t>
            </a:r>
            <a:endParaRPr b="0"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Char char="●"/>
            </a:pPr>
            <a:r>
              <a:rPr b="0" i="0" lang="ru-RU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s3 имеет архитектуру Xtensa LX7 с поддержкой SIMD (128-битные регистры, можем одной инструкцией делать 8 умножений по 8 пар при INT8 квантизации!)</a:t>
            </a:r>
            <a:endParaRPr b="0"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Char char="●"/>
            </a:pPr>
            <a:r>
              <a:rPr b="0" i="0" lang="ru-RU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esp32-c3-super-mini - отладочная плата для удобной работы с чипом esp32-c3.</a:t>
            </a:r>
            <a:endParaRPr b="0"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Char char="●"/>
            </a:pPr>
            <a:r>
              <a:rPr b="0" i="0" lang="ru-RU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c3 имеет открытую архитектуру RISC-V. В данном случае используемый MCU не принципиален, нужно было лишь собирать данные по i2c от ina228 и передавать их по uart/wifi/bt.</a:t>
            </a:r>
            <a:endParaRPr b="0"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Char char="●"/>
            </a:pPr>
            <a:r>
              <a:rPr b="0" i="0" lang="ru-RU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детектор звука - датчик с компаратором LM393 и электретным капсулем</a:t>
            </a:r>
            <a:endParaRPr b="0" i="0" sz="24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d829d56da7_0_200"/>
          <p:cNvSpPr txBox="1"/>
          <p:nvPr>
            <p:ph type="title"/>
          </p:nvPr>
        </p:nvSpPr>
        <p:spPr>
          <a:xfrm>
            <a:off x="933450" y="612870"/>
            <a:ext cx="13933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5400" lIns="185400" spcFirstLastPara="1" rIns="185400" wrap="square" tIns="1854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Разделение доменов</a:t>
            </a:r>
            <a:endParaRPr sz="6489"/>
          </a:p>
        </p:txBody>
      </p:sp>
      <p:pic>
        <p:nvPicPr>
          <p:cNvPr id="705" name="Google Shape;705;g3d829d56da7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20070"/>
            <a:ext cx="16294886" cy="8314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